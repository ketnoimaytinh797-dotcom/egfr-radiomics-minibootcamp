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Output  book/_static/results/day05/summary_demo.txt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Notebook  book/day05.ipynb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Notebook  book/day05.ipynb
- Output  book/_static/results/day05/summary_demo.txt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Output  book/_static/results/day05/flow_5days.png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Notebook  book/day05.ipynb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84048"/>
          </a:xfrm>
          <a:prstGeom prst="rect">
            <a:avLst/>
          </a:prstGeom>
          <a:solidFill>
            <a:srgbClr val="1F3C88"/>
          </a:solidFill>
          <a:ln w="12700">
            <a:solidFill>
              <a:srgbClr val="1F3C88"/>
            </a:solidFill>
            <a:prstDash val="solid"/>
          </a:ln>
        </p:spPr>
      </p:sp>
      <p:sp>
        <p:nvSpPr>
          <p:cNvPr id="3" name="Text 1"/>
          <p:cNvSpPr/>
          <p:nvPr/>
        </p:nvSpPr>
        <p:spPr>
          <a:xfrm>
            <a:off x="548640" y="502920"/>
            <a:ext cx="1828800" cy="274320"/>
          </a:xfrm>
          <a:prstGeom prst="rect">
            <a:avLst/>
          </a:prstGeom>
          <a:noFill/>
          <a:ln/>
        </p:spPr>
        <p:txBody>
          <a:bodyPr wrap="square" rtlCol="0" anchor="ctr"/>
          <a:lstStyle/>
          <a:p>
            <a:pPr indent="0" marL="0">
              <a:buNone/>
            </a:pPr>
            <a:r>
              <a:rPr lang="en-US" sz="1200" b="1" dirty="0">
                <a:solidFill>
                  <a:srgbClr val="2FA5A3"/>
                </a:solidFill>
              </a:rPr>
              <a:t>Day 05</a:t>
            </a:r>
            <a:endParaRPr lang="en-US" sz="1200" dirty="0"/>
          </a:p>
        </p:txBody>
      </p:sp>
      <p:sp>
        <p:nvSpPr>
          <p:cNvPr id="4" name="Text 2"/>
          <p:cNvSpPr/>
          <p:nvPr/>
        </p:nvSpPr>
        <p:spPr>
          <a:xfrm>
            <a:off x="548640" y="868680"/>
            <a:ext cx="9144000" cy="640080"/>
          </a:xfrm>
          <a:prstGeom prst="rect">
            <a:avLst/>
          </a:prstGeom>
          <a:noFill/>
          <a:ln/>
        </p:spPr>
        <p:txBody>
          <a:bodyPr wrap="square" rtlCol="0" anchor="ctr"/>
          <a:lstStyle/>
          <a:p>
            <a:pPr indent="0" marL="0">
              <a:buNone/>
            </a:pPr>
            <a:r>
              <a:rPr lang="en-US" sz="2600" b="1" dirty="0">
                <a:solidFill>
                  <a:srgbClr val="1F2430"/>
                </a:solidFill>
              </a:rPr>
              <a:t>Ghep ket qua thanh bo output cuoi</a:t>
            </a:r>
            <a:endParaRPr lang="en-US" sz="2600" dirty="0"/>
          </a:p>
        </p:txBody>
      </p:sp>
      <p:sp>
        <p:nvSpPr>
          <p:cNvPr id="5" name="Shape 3"/>
          <p:cNvSpPr/>
          <p:nvPr/>
        </p:nvSpPr>
        <p:spPr>
          <a:xfrm>
            <a:off x="548640" y="1627632"/>
            <a:ext cx="11064240" cy="0"/>
          </a:xfrm>
          <a:prstGeom prst="line">
            <a:avLst/>
          </a:prstGeom>
          <a:noFill/>
          <a:ln w="12700">
            <a:solidFill>
              <a:srgbClr val="D9E2F0"/>
            </a:solidFill>
            <a:prstDash val="solid"/>
          </a:ln>
        </p:spPr>
      </p:sp>
      <p:sp>
        <p:nvSpPr>
          <p:cNvPr id="6" name="Text 4"/>
          <p:cNvSpPr/>
          <p:nvPr/>
        </p:nvSpPr>
        <p:spPr>
          <a:xfrm>
            <a:off x="777240" y="1920240"/>
            <a:ext cx="5303520" cy="2743200"/>
          </a:xfrm>
          <a:prstGeom prst="rect">
            <a:avLst/>
          </a:prstGeom>
          <a:noFill/>
          <a:ln/>
        </p:spPr>
        <p:txBody>
          <a:bodyPr wrap="square" lIns="635" tIns="635" rIns="635" bIns="635" rtlCol="0" anchor="ctr"/>
          <a:lstStyle/>
          <a:p>
            <a:pPr marL="203200" indent="-203200">
              <a:buSzPct val="100000"/>
              <a:buChar char="•"/>
            </a:pPr>
            <a:r>
              <a:rPr lang="en-US" sz="1900" dirty="0">
                <a:solidFill>
                  <a:srgbClr val="1F2430"/>
                </a:solidFill>
              </a:rPr>
              <a:t>Doc lai output cua bon buoi truoc</a:t>
            </a:r>
            <a:endParaRPr lang="en-US" sz="1900" dirty="0"/>
          </a:p>
          <a:p>
            <a:pPr marL="203200" indent="-203200">
              <a:buSzPct val="100000"/>
              <a:buChar char="•"/>
            </a:pPr>
            <a:r>
              <a:rPr lang="en-US" sz="1900" dirty="0">
                <a:solidFill>
                  <a:srgbClr val="1F2430"/>
                </a:solidFill>
              </a:rPr>
              <a:t>Chon cac con so can noi</a:t>
            </a:r>
            <a:endParaRPr lang="en-US" sz="1900" dirty="0"/>
          </a:p>
          <a:p>
            <a:pPr marL="203200" indent="-203200">
              <a:buSzPct val="100000"/>
              <a:buChar char="•"/>
            </a:pPr>
            <a:r>
              <a:rPr lang="en-US" sz="1900" dirty="0">
                <a:solidFill>
                  <a:srgbClr val="1F2430"/>
                </a:solidFill>
              </a:rPr>
              <a:t>Viet doan tom tat ngan</a:t>
            </a:r>
            <a:endParaRPr lang="en-US" sz="1900" dirty="0"/>
          </a:p>
          <a:p>
            <a:pPr marL="203200" indent="-203200">
              <a:buSzPct val="100000"/>
              <a:buChar char="•"/>
            </a:pPr>
            <a:r>
              <a:rPr lang="en-US" sz="1900" dirty="0">
                <a:solidFill>
                  <a:srgbClr val="1F2430"/>
                </a:solidFill>
              </a:rPr>
              <a:t>Tao bo file cuoi de nop</a:t>
            </a:r>
            <a:endParaRPr lang="en-US" sz="1900" dirty="0"/>
          </a:p>
        </p:txBody>
      </p:sp>
      <p:sp>
        <p:nvSpPr>
          <p:cNvPr id="7" name="Shape 5"/>
          <p:cNvSpPr/>
          <p:nvPr/>
        </p:nvSpPr>
        <p:spPr>
          <a:xfrm>
            <a:off x="6400800" y="1965960"/>
            <a:ext cx="4572000" cy="1828800"/>
          </a:xfrm>
          <a:prstGeom prst="roundRect">
            <a:avLst>
              <a:gd name="adj" fmla="val 3000"/>
            </a:avLst>
          </a:prstGeom>
          <a:solidFill>
            <a:srgbClr val="EEF6FF"/>
          </a:solidFill>
          <a:ln w="12700">
            <a:solidFill>
              <a:srgbClr val="EEF6FF"/>
            </a:solidFill>
            <a:prstDash val="solid"/>
          </a:ln>
          <a:effectLst>
            <a:outerShdw sx="100000" sy="100000" kx="0" ky="0" algn="bl" rotWithShape="0" blurRad="12700" dist="5080" dir="2700000">
              <a:srgbClr val="000000">
                <a:alpha val="10000"/>
              </a:srgbClr>
            </a:outerShdw>
          </a:effectLst>
        </p:spPr>
      </p:sp>
      <p:sp>
        <p:nvSpPr>
          <p:cNvPr id="8" name="Text 6"/>
          <p:cNvSpPr/>
          <p:nvPr/>
        </p:nvSpPr>
        <p:spPr>
          <a:xfrm>
            <a:off x="6537960" y="2075688"/>
            <a:ext cx="4297680" cy="228600"/>
          </a:xfrm>
          <a:prstGeom prst="rect">
            <a:avLst/>
          </a:prstGeom>
          <a:noFill/>
          <a:ln/>
        </p:spPr>
        <p:txBody>
          <a:bodyPr wrap="square" rtlCol="0" anchor="ctr"/>
          <a:lstStyle/>
          <a:p>
            <a:pPr indent="0" marL="0">
              <a:buNone/>
            </a:pPr>
            <a:r>
              <a:rPr lang="en-US" sz="1400" b="1" dirty="0">
                <a:solidFill>
                  <a:srgbClr val="1F3C88"/>
                </a:solidFill>
              </a:rPr>
              <a:t>Bon y can noi</a:t>
            </a:r>
            <a:endParaRPr lang="en-US" sz="1400" dirty="0"/>
          </a:p>
        </p:txBody>
      </p:sp>
      <p:sp>
        <p:nvSpPr>
          <p:cNvPr id="9" name="Text 7"/>
          <p:cNvSpPr/>
          <p:nvPr/>
        </p:nvSpPr>
        <p:spPr>
          <a:xfrm>
            <a:off x="6537960" y="2350008"/>
            <a:ext cx="4297680" cy="1371600"/>
          </a:xfrm>
          <a:prstGeom prst="rect">
            <a:avLst/>
          </a:prstGeom>
          <a:noFill/>
          <a:ln/>
        </p:spPr>
        <p:txBody>
          <a:bodyPr wrap="square" lIns="254" tIns="254" rIns="254" bIns="254" rtlCol="0" anchor="ctr"/>
          <a:lstStyle/>
          <a:p>
            <a:pPr indent="0" marL="0">
              <a:buNone/>
            </a:pPr>
            <a:r>
              <a:rPr lang="en-US" sz="1600" dirty="0">
                <a:solidFill>
                  <a:srgbClr val="1F2430"/>
                </a:solidFill>
              </a:rPr>
              <a:t>Cohort  200 benh nhan</a:t>
            </a:r>
            <a:endParaRPr lang="en-US" sz="1600" dirty="0"/>
          </a:p>
          <a:p>
            <a:pPr indent="0" marL="0">
              <a:buNone/>
            </a:pPr>
            <a:r>
              <a:rPr lang="en-US" sz="1600" dirty="0">
                <a:solidFill>
                  <a:srgbClr val="1F2430"/>
                </a:solidFill>
              </a:rPr>
              <a:t>AUC ring1  0.815</a:t>
            </a:r>
            <a:endParaRPr lang="en-US" sz="1600" dirty="0"/>
          </a:p>
          <a:p>
            <a:pPr indent="0" marL="0">
              <a:buNone/>
            </a:pPr>
            <a:r>
              <a:rPr lang="en-US" sz="1600" dirty="0">
                <a:solidFill>
                  <a:srgbClr val="1F2430"/>
                </a:solidFill>
              </a:rPr>
              <a:t>Mean AUC 5 fold  0.810</a:t>
            </a:r>
            <a:endParaRPr lang="en-US" sz="1600" dirty="0"/>
          </a:p>
          <a:p>
            <a:pPr indent="0" marL="0">
              <a:buNone/>
            </a:pPr>
            <a:r>
              <a:rPr lang="en-US" sz="1600" dirty="0">
                <a:solidFill>
                  <a:srgbClr val="1F2430"/>
                </a:solidFill>
              </a:rPr>
              <a:t>PI3K delta median P  0.232</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84048"/>
          </a:xfrm>
          <a:prstGeom prst="rect">
            <a:avLst/>
          </a:prstGeom>
          <a:solidFill>
            <a:srgbClr val="1F3C88"/>
          </a:solidFill>
          <a:ln w="12700">
            <a:solidFill>
              <a:srgbClr val="1F3C88"/>
            </a:solidFill>
            <a:prstDash val="solid"/>
          </a:ln>
        </p:spPr>
      </p:sp>
      <p:sp>
        <p:nvSpPr>
          <p:cNvPr id="3" name="Text 1"/>
          <p:cNvSpPr/>
          <p:nvPr/>
        </p:nvSpPr>
        <p:spPr>
          <a:xfrm>
            <a:off x="548640" y="502920"/>
            <a:ext cx="1828800" cy="274320"/>
          </a:xfrm>
          <a:prstGeom prst="rect">
            <a:avLst/>
          </a:prstGeom>
          <a:noFill/>
          <a:ln/>
        </p:spPr>
        <p:txBody>
          <a:bodyPr wrap="square" rtlCol="0" anchor="ctr"/>
          <a:lstStyle/>
          <a:p>
            <a:pPr indent="0" marL="0">
              <a:buNone/>
            </a:pPr>
            <a:r>
              <a:rPr lang="en-US" sz="1200" b="1" dirty="0">
                <a:solidFill>
                  <a:srgbClr val="2FA5A3"/>
                </a:solidFill>
              </a:rPr>
              <a:t>Day 05</a:t>
            </a:r>
            <a:endParaRPr lang="en-US" sz="1200" dirty="0"/>
          </a:p>
        </p:txBody>
      </p:sp>
      <p:sp>
        <p:nvSpPr>
          <p:cNvPr id="4" name="Text 2"/>
          <p:cNvSpPr/>
          <p:nvPr/>
        </p:nvSpPr>
        <p:spPr>
          <a:xfrm>
            <a:off x="548640" y="868680"/>
            <a:ext cx="9144000" cy="640080"/>
          </a:xfrm>
          <a:prstGeom prst="rect">
            <a:avLst/>
          </a:prstGeom>
          <a:noFill/>
          <a:ln/>
        </p:spPr>
        <p:txBody>
          <a:bodyPr wrap="square" rtlCol="0" anchor="ctr"/>
          <a:lstStyle/>
          <a:p>
            <a:pPr indent="0" marL="0">
              <a:buNone/>
            </a:pPr>
            <a:r>
              <a:rPr lang="en-US" sz="2600" b="1" dirty="0">
                <a:solidFill>
                  <a:srgbClr val="1F2430"/>
                </a:solidFill>
              </a:rPr>
              <a:t>Code doc lai output</a:t>
            </a:r>
            <a:endParaRPr lang="en-US" sz="2600" dirty="0"/>
          </a:p>
        </p:txBody>
      </p:sp>
      <p:sp>
        <p:nvSpPr>
          <p:cNvPr id="5" name="Shape 3"/>
          <p:cNvSpPr/>
          <p:nvPr/>
        </p:nvSpPr>
        <p:spPr>
          <a:xfrm>
            <a:off x="548640" y="1627632"/>
            <a:ext cx="11064240" cy="0"/>
          </a:xfrm>
          <a:prstGeom prst="line">
            <a:avLst/>
          </a:prstGeom>
          <a:noFill/>
          <a:ln w="12700">
            <a:solidFill>
              <a:srgbClr val="D9E2F0"/>
            </a:solidFill>
            <a:prstDash val="solid"/>
          </a:ln>
        </p:spPr>
      </p:sp>
      <p:sp>
        <p:nvSpPr>
          <p:cNvPr id="6" name="Shape 4"/>
          <p:cNvSpPr/>
          <p:nvPr/>
        </p:nvSpPr>
        <p:spPr>
          <a:xfrm>
            <a:off x="731520" y="1828800"/>
            <a:ext cx="5669280" cy="3108960"/>
          </a:xfrm>
          <a:prstGeom prst="roundRect">
            <a:avLst>
              <a:gd name="adj" fmla="val 1765"/>
            </a:avLst>
          </a:prstGeom>
          <a:solidFill>
            <a:srgbClr val="F7F9FC"/>
          </a:solidFill>
          <a:ln w="12700">
            <a:solidFill>
              <a:srgbClr val="D9E2F0"/>
            </a:solidFill>
            <a:prstDash val="solid"/>
          </a:ln>
        </p:spPr>
      </p:sp>
      <p:sp>
        <p:nvSpPr>
          <p:cNvPr id="7" name="Text 5"/>
          <p:cNvSpPr/>
          <p:nvPr/>
        </p:nvSpPr>
        <p:spPr>
          <a:xfrm>
            <a:off x="859536" y="1901952"/>
            <a:ext cx="5413248" cy="201168"/>
          </a:xfrm>
          <a:prstGeom prst="rect">
            <a:avLst/>
          </a:prstGeom>
          <a:noFill/>
          <a:ln/>
        </p:spPr>
        <p:txBody>
          <a:bodyPr wrap="square" rtlCol="0" anchor="ctr"/>
          <a:lstStyle/>
          <a:p>
            <a:pPr indent="0" marL="0">
              <a:buNone/>
            </a:pPr>
            <a:r>
              <a:rPr lang="en-US" sz="1100" b="1" dirty="0">
                <a:solidFill>
                  <a:srgbClr val="5C6575"/>
                </a:solidFill>
              </a:rPr>
              <a:t>Code</a:t>
            </a:r>
            <a:endParaRPr lang="en-US" sz="1100" dirty="0"/>
          </a:p>
        </p:txBody>
      </p:sp>
      <p:sp>
        <p:nvSpPr>
          <p:cNvPr id="8" name="Text 6"/>
          <p:cNvSpPr/>
          <p:nvPr/>
        </p:nvSpPr>
        <p:spPr>
          <a:xfrm>
            <a:off x="841248" y="2121408"/>
            <a:ext cx="5449824" cy="2743200"/>
          </a:xfrm>
          <a:prstGeom prst="rect">
            <a:avLst/>
          </a:prstGeom>
          <a:noFill/>
          <a:ln/>
        </p:spPr>
        <p:txBody>
          <a:bodyPr wrap="square" lIns="254" tIns="254" rIns="254" bIns="254" rtlCol="0" anchor="ctr"/>
          <a:lstStyle/>
          <a:p>
            <a:pPr indent="0" marL="0">
              <a:buNone/>
            </a:pPr>
            <a:r>
              <a:rPr lang="en-US" sz="1400" dirty="0">
                <a:solidFill>
                  <a:srgbClr val="8292A2"/>
                </a:solidFill>
                <a:latin typeface="Consolas" pitchFamily="34" charset="0"/>
                <a:ea typeface="Consolas" pitchFamily="34" charset="-122"/>
                <a:cs typeface="Consolas" pitchFamily="34" charset="-120"/>
              </a:rPr>
              <a:t>1 </a:t>
            </a:r>
            <a:pPr indent="0" marL="0">
              <a:buNone/>
            </a:pPr>
            <a:r>
              <a:rPr lang="en-US" sz="1400" dirty="0">
                <a:solidFill>
                  <a:srgbClr val="FFFFFF"/>
                </a:solidFill>
                <a:latin typeface="Consolas" pitchFamily="34" charset="0"/>
                <a:ea typeface="Consolas" pitchFamily="34" charset="-122"/>
                <a:cs typeface="Consolas" pitchFamily="34" charset="-120"/>
              </a:rPr>
              <a:t>day01_overall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pd</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read_csv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base_results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'day01'</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'table1_overall.csv'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2 </a:t>
            </a:r>
            <a:pPr indent="0" marL="0">
              <a:buNone/>
            </a:pPr>
            <a:r>
              <a:rPr lang="en-US" sz="1400" dirty="0">
                <a:solidFill>
                  <a:srgbClr val="FFFFFF"/>
                </a:solidFill>
                <a:latin typeface="Consolas" pitchFamily="34" charset="0"/>
                <a:ea typeface="Consolas" pitchFamily="34" charset="-122"/>
                <a:cs typeface="Consolas" pitchFamily="34" charset="-120"/>
              </a:rPr>
              <a:t>day02_roi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pd</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read_csv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base_results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'day02'</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'roi_performance_table.csv'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3 </a:t>
            </a:r>
            <a:pPr indent="0" marL="0">
              <a:buNone/>
            </a:pPr>
            <a:r>
              <a:rPr lang="en-US" sz="1400" dirty="0">
                <a:solidFill>
                  <a:srgbClr val="FFFFFF"/>
                </a:solidFill>
                <a:latin typeface="Consolas" pitchFamily="34" charset="0"/>
                <a:ea typeface="Consolas" pitchFamily="34" charset="-122"/>
                <a:cs typeface="Consolas" pitchFamily="34" charset="-120"/>
              </a:rPr>
              <a:t>day03_cv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pd</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read_csv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base_results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'day03'</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'cv_auc_table.csv'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4 </a:t>
            </a:r>
            <a:pPr indent="0" marL="0">
              <a:buNone/>
            </a:pPr>
            <a:r>
              <a:rPr lang="en-US" sz="1400" dirty="0">
                <a:solidFill>
                  <a:srgbClr val="FFFFFF"/>
                </a:solidFill>
                <a:latin typeface="Consolas" pitchFamily="34" charset="0"/>
                <a:ea typeface="Consolas" pitchFamily="34" charset="-122"/>
                <a:cs typeface="Consolas" pitchFamily="34" charset="-120"/>
              </a:rPr>
              <a:t>day03_boot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pd</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read_csv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base_results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'day03'</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'bootstrap_auc_values.csv'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5 </a:t>
            </a:r>
            <a:pPr indent="0" marL="0">
              <a:buNone/>
            </a:pPr>
            <a:r>
              <a:rPr lang="en-US" sz="1400" dirty="0">
                <a:solidFill>
                  <a:srgbClr val="FFFFFF"/>
                </a:solidFill>
                <a:latin typeface="Consolas" pitchFamily="34" charset="0"/>
                <a:ea typeface="Consolas" pitchFamily="34" charset="-122"/>
                <a:cs typeface="Consolas" pitchFamily="34" charset="-120"/>
              </a:rPr>
              <a:t>day04_pathway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pd</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read_csv</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base_results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'day04'</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'pathway_delta_table.csv'</a:t>
            </a:r>
            <a:pPr indent="0" marL="0">
              <a:buNone/>
            </a:pPr>
            <a:r>
              <a:rPr lang="en-US" sz="1400" dirty="0">
                <a:solidFill>
                  <a:srgbClr val="F8F8F2"/>
                </a:solidFill>
                <a:latin typeface="Consolas" pitchFamily="34" charset="0"/>
                <a:ea typeface="Consolas" pitchFamily="34" charset="-122"/>
                <a:cs typeface="Consolas" pitchFamily="34" charset="-120"/>
              </a:rPr>
              <a:t>)</a:t>
            </a:r>
            <a:endParaRPr lang="en-US" sz="1100" dirty="0"/>
          </a:p>
        </p:txBody>
      </p:sp>
      <p:sp>
        <p:nvSpPr>
          <p:cNvPr id="9" name="Shape 7"/>
          <p:cNvSpPr/>
          <p:nvPr/>
        </p:nvSpPr>
        <p:spPr>
          <a:xfrm>
            <a:off x="6675120" y="2011680"/>
            <a:ext cx="4297680" cy="1280160"/>
          </a:xfrm>
          <a:prstGeom prst="roundRect">
            <a:avLst>
              <a:gd name="adj" fmla="val 4286"/>
            </a:avLst>
          </a:prstGeom>
          <a:solidFill>
            <a:srgbClr val="FFF6E8"/>
          </a:solidFill>
          <a:ln w="12700">
            <a:solidFill>
              <a:srgbClr val="FFF6E8"/>
            </a:solidFill>
            <a:prstDash val="solid"/>
          </a:ln>
          <a:effectLst>
            <a:outerShdw sx="100000" sy="100000" kx="0" ky="0" algn="bl" rotWithShape="0" blurRad="12700" dist="5080" dir="2700000">
              <a:srgbClr val="000000">
                <a:alpha val="10000"/>
              </a:srgbClr>
            </a:outerShdw>
          </a:effectLst>
        </p:spPr>
      </p:sp>
      <p:sp>
        <p:nvSpPr>
          <p:cNvPr id="10" name="Text 8"/>
          <p:cNvSpPr/>
          <p:nvPr/>
        </p:nvSpPr>
        <p:spPr>
          <a:xfrm>
            <a:off x="6812280" y="2121408"/>
            <a:ext cx="4023360" cy="228600"/>
          </a:xfrm>
          <a:prstGeom prst="rect">
            <a:avLst/>
          </a:prstGeom>
          <a:noFill/>
          <a:ln/>
        </p:spPr>
        <p:txBody>
          <a:bodyPr wrap="square" rtlCol="0" anchor="ctr"/>
          <a:lstStyle/>
          <a:p>
            <a:pPr indent="0" marL="0">
              <a:buNone/>
            </a:pPr>
            <a:r>
              <a:rPr lang="en-US" sz="1400" b="1" dirty="0">
                <a:solidFill>
                  <a:srgbClr val="1F3C88"/>
                </a:solidFill>
              </a:rPr>
              <a:t>Y chinh</a:t>
            </a:r>
            <a:endParaRPr lang="en-US" sz="1400" dirty="0"/>
          </a:p>
        </p:txBody>
      </p:sp>
      <p:sp>
        <p:nvSpPr>
          <p:cNvPr id="11" name="Text 9"/>
          <p:cNvSpPr/>
          <p:nvPr/>
        </p:nvSpPr>
        <p:spPr>
          <a:xfrm>
            <a:off x="6812280" y="2395728"/>
            <a:ext cx="4023360" cy="822960"/>
          </a:xfrm>
          <a:prstGeom prst="rect">
            <a:avLst/>
          </a:prstGeom>
          <a:noFill/>
          <a:ln/>
        </p:spPr>
        <p:txBody>
          <a:bodyPr wrap="square" lIns="254" tIns="254" rIns="254" bIns="254" rtlCol="0" anchor="ctr"/>
          <a:lstStyle/>
          <a:p>
            <a:pPr indent="0" marL="0">
              <a:buNone/>
            </a:pPr>
            <a:r>
              <a:rPr lang="en-US" sz="1600" dirty="0">
                <a:solidFill>
                  <a:srgbClr val="1F2430"/>
                </a:solidFill>
              </a:rPr>
              <a:t>Buoi 5 khong them thuat toan moi.</a:t>
            </a:r>
            <a:endParaRPr lang="en-US" sz="1600" dirty="0"/>
          </a:p>
          <a:p>
            <a:pPr indent="0" marL="0">
              <a:buNone/>
            </a:pPr>
            <a:r>
              <a:rPr lang="en-US" sz="1600" dirty="0">
                <a:solidFill>
                  <a:srgbClr val="1F2430"/>
                </a:solidFill>
              </a:rPr>
              <a:t>Buoi 5 day cach gom ket qua thanh cau chuyen ngan gon.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84048"/>
          </a:xfrm>
          <a:prstGeom prst="rect">
            <a:avLst/>
          </a:prstGeom>
          <a:solidFill>
            <a:srgbClr val="1F3C88"/>
          </a:solidFill>
          <a:ln w="12700">
            <a:solidFill>
              <a:srgbClr val="1F3C88"/>
            </a:solidFill>
            <a:prstDash val="solid"/>
          </a:ln>
        </p:spPr>
      </p:sp>
      <p:sp>
        <p:nvSpPr>
          <p:cNvPr id="3" name="Text 1"/>
          <p:cNvSpPr/>
          <p:nvPr/>
        </p:nvSpPr>
        <p:spPr>
          <a:xfrm>
            <a:off x="548640" y="502920"/>
            <a:ext cx="1828800" cy="274320"/>
          </a:xfrm>
          <a:prstGeom prst="rect">
            <a:avLst/>
          </a:prstGeom>
          <a:noFill/>
          <a:ln/>
        </p:spPr>
        <p:txBody>
          <a:bodyPr wrap="square" rtlCol="0" anchor="ctr"/>
          <a:lstStyle/>
          <a:p>
            <a:pPr indent="0" marL="0">
              <a:buNone/>
            </a:pPr>
            <a:r>
              <a:rPr lang="en-US" sz="1200" b="1" dirty="0">
                <a:solidFill>
                  <a:srgbClr val="2FA5A3"/>
                </a:solidFill>
              </a:rPr>
              <a:t>Day 05</a:t>
            </a:r>
            <a:endParaRPr lang="en-US" sz="1200" dirty="0"/>
          </a:p>
        </p:txBody>
      </p:sp>
      <p:sp>
        <p:nvSpPr>
          <p:cNvPr id="4" name="Text 2"/>
          <p:cNvSpPr/>
          <p:nvPr/>
        </p:nvSpPr>
        <p:spPr>
          <a:xfrm>
            <a:off x="548640" y="868680"/>
            <a:ext cx="9144000" cy="640080"/>
          </a:xfrm>
          <a:prstGeom prst="rect">
            <a:avLst/>
          </a:prstGeom>
          <a:noFill/>
          <a:ln/>
        </p:spPr>
        <p:txBody>
          <a:bodyPr wrap="square" rtlCol="0" anchor="ctr"/>
          <a:lstStyle/>
          <a:p>
            <a:pPr indent="0" marL="0">
              <a:buNone/>
            </a:pPr>
            <a:r>
              <a:rPr lang="en-US" sz="2600" b="1" dirty="0">
                <a:solidFill>
                  <a:srgbClr val="1F2430"/>
                </a:solidFill>
              </a:rPr>
              <a:t>Code viet doan tom tat</a:t>
            </a:r>
            <a:endParaRPr lang="en-US" sz="2600" dirty="0"/>
          </a:p>
        </p:txBody>
      </p:sp>
      <p:sp>
        <p:nvSpPr>
          <p:cNvPr id="5" name="Shape 3"/>
          <p:cNvSpPr/>
          <p:nvPr/>
        </p:nvSpPr>
        <p:spPr>
          <a:xfrm>
            <a:off x="548640" y="1627632"/>
            <a:ext cx="11064240" cy="0"/>
          </a:xfrm>
          <a:prstGeom prst="line">
            <a:avLst/>
          </a:prstGeom>
          <a:noFill/>
          <a:ln w="12700">
            <a:solidFill>
              <a:srgbClr val="D9E2F0"/>
            </a:solidFill>
            <a:prstDash val="solid"/>
          </a:ln>
        </p:spPr>
      </p:sp>
      <p:sp>
        <p:nvSpPr>
          <p:cNvPr id="6" name="Shape 4"/>
          <p:cNvSpPr/>
          <p:nvPr/>
        </p:nvSpPr>
        <p:spPr>
          <a:xfrm>
            <a:off x="731520" y="1828800"/>
            <a:ext cx="5760720" cy="3291840"/>
          </a:xfrm>
          <a:prstGeom prst="roundRect">
            <a:avLst>
              <a:gd name="adj" fmla="val 1667"/>
            </a:avLst>
          </a:prstGeom>
          <a:solidFill>
            <a:srgbClr val="F7F9FC"/>
          </a:solidFill>
          <a:ln w="12700">
            <a:solidFill>
              <a:srgbClr val="D9E2F0"/>
            </a:solidFill>
            <a:prstDash val="solid"/>
          </a:ln>
        </p:spPr>
      </p:sp>
      <p:sp>
        <p:nvSpPr>
          <p:cNvPr id="7" name="Text 5"/>
          <p:cNvSpPr/>
          <p:nvPr/>
        </p:nvSpPr>
        <p:spPr>
          <a:xfrm>
            <a:off x="859536" y="1901952"/>
            <a:ext cx="5504688" cy="201168"/>
          </a:xfrm>
          <a:prstGeom prst="rect">
            <a:avLst/>
          </a:prstGeom>
          <a:noFill/>
          <a:ln/>
        </p:spPr>
        <p:txBody>
          <a:bodyPr wrap="square" rtlCol="0" anchor="ctr"/>
          <a:lstStyle/>
          <a:p>
            <a:pPr indent="0" marL="0">
              <a:buNone/>
            </a:pPr>
            <a:r>
              <a:rPr lang="en-US" sz="1100" b="1" dirty="0">
                <a:solidFill>
                  <a:srgbClr val="5C6575"/>
                </a:solidFill>
              </a:rPr>
              <a:t>Code</a:t>
            </a:r>
            <a:endParaRPr lang="en-US" sz="1100" dirty="0"/>
          </a:p>
        </p:txBody>
      </p:sp>
      <p:sp>
        <p:nvSpPr>
          <p:cNvPr id="8" name="Text 6"/>
          <p:cNvSpPr/>
          <p:nvPr/>
        </p:nvSpPr>
        <p:spPr>
          <a:xfrm>
            <a:off x="841248" y="2121408"/>
            <a:ext cx="5541264" cy="2926080"/>
          </a:xfrm>
          <a:prstGeom prst="rect">
            <a:avLst/>
          </a:prstGeom>
          <a:noFill/>
          <a:ln/>
        </p:spPr>
        <p:txBody>
          <a:bodyPr wrap="square" lIns="254" tIns="254" rIns="254" bIns="254" rtlCol="0" anchor="ctr"/>
          <a:lstStyle/>
          <a:p>
            <a:pPr indent="0" marL="0">
              <a:buNone/>
            </a:pPr>
            <a:r>
              <a:rPr lang="en-US" sz="1400" dirty="0">
                <a:solidFill>
                  <a:srgbClr val="8292A2"/>
                </a:solidFill>
                <a:latin typeface="Consolas" pitchFamily="34" charset="0"/>
                <a:ea typeface="Consolas" pitchFamily="34" charset="-122"/>
                <a:cs typeface="Consolas" pitchFamily="34" charset="-120"/>
              </a:rPr>
              <a:t>1 </a:t>
            </a:r>
            <a:pPr indent="0" marL="0">
              <a:buNone/>
            </a:pPr>
            <a:r>
              <a:rPr lang="en-US" sz="1400" dirty="0">
                <a:solidFill>
                  <a:srgbClr val="FFFFFF"/>
                </a:solidFill>
                <a:latin typeface="Consolas" pitchFamily="34" charset="0"/>
                <a:ea typeface="Consolas" pitchFamily="34" charset="-122"/>
                <a:cs typeface="Consolas" pitchFamily="34" charset="-120"/>
              </a:rPr>
              <a:t>summary_day05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2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f'Cohort demo co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n_patient</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benh nhan va ty le EGFR dot bien la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egfr_rate</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.1f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phan tram.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3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f'Trong lan chia minh hoa, ROI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best_roi</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dat AUC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best_auc</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.3f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4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f'Cross validation 5 fold cho mean AUC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cv_mean</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.3f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va bootstrap 95 CI tu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ci_low</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.3f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den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ci_high</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.3f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5 </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FFFFFF"/>
                </a:solidFill>
                <a:latin typeface="Consolas" pitchFamily="34" charset="0"/>
                <a:ea typeface="Consolas" pitchFamily="34" charset="-122"/>
                <a:cs typeface="Consolas" pitchFamily="34" charset="-120"/>
              </a:rPr>
              <a:t>f'Trong subset NGS,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top_pathway</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co delta median P </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top_delta</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.3f</a:t>
            </a:r>
            <a:pPr indent="0" marL="0">
              <a:buNone/>
            </a:pPr>
            <a:r>
              <a:rPr lang="en-US" sz="1400" dirty="0">
                <a:solidFill>
                  <a:srgbClr val="F8F8F2"/>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a:t>
            </a:r>
            <a:pPr indent="0" marL="0">
              <a:buNone/>
            </a:pPr>
            <a:r>
              <a:rPr lang="en-US" sz="1400" dirty="0">
                <a:solidFill>
                  <a:srgbClr val="FFFFFF"/>
                </a:solidFill>
                <a:latin typeface="Consolas" pitchFamily="34" charset="0"/>
                <a:ea typeface="Consolas" pitchFamily="34" charset="-122"/>
                <a:cs typeface="Consolas" pitchFamily="34" charset="-120"/>
              </a:rPr>
              <a:t>
</a:t>
            </a:r>
            <a:pPr indent="0" marL="0">
              <a:buNone/>
            </a:pPr>
            <a:r>
              <a:rPr lang="en-US" sz="1400" dirty="0">
                <a:solidFill>
                  <a:srgbClr val="8292A2"/>
                </a:solidFill>
                <a:latin typeface="Consolas" pitchFamily="34" charset="0"/>
                <a:ea typeface="Consolas" pitchFamily="34" charset="-122"/>
                <a:cs typeface="Consolas" pitchFamily="34" charset="-120"/>
              </a:rPr>
              <a:t>6 </a:t>
            </a:r>
            <a:pPr indent="0" marL="0">
              <a:buNone/>
            </a:pPr>
            <a:r>
              <a:rPr lang="en-US" sz="1400" dirty="0">
                <a:solidFill>
                  <a:srgbClr val="F8F8F2"/>
                </a:solidFill>
                <a:latin typeface="Consolas" pitchFamily="34" charset="0"/>
                <a:ea typeface="Consolas" pitchFamily="34" charset="-122"/>
                <a:cs typeface="Consolas" pitchFamily="34" charset="-120"/>
              </a:rPr>
              <a:t>)</a:t>
            </a:r>
            <a:endParaRPr lang="en-US" sz="1100" dirty="0"/>
          </a:p>
        </p:txBody>
      </p:sp>
      <p:sp>
        <p:nvSpPr>
          <p:cNvPr id="9" name="Shape 7"/>
          <p:cNvSpPr/>
          <p:nvPr/>
        </p:nvSpPr>
        <p:spPr>
          <a:xfrm>
            <a:off x="6720840" y="1828800"/>
            <a:ext cx="4297680" cy="2560320"/>
          </a:xfrm>
          <a:prstGeom prst="roundRect">
            <a:avLst>
              <a:gd name="adj" fmla="val 2143"/>
            </a:avLst>
          </a:prstGeom>
          <a:solidFill>
            <a:srgbClr val="EEF6FF"/>
          </a:solidFill>
          <a:ln w="12700">
            <a:solidFill>
              <a:srgbClr val="EEF6FF"/>
            </a:solidFill>
            <a:prstDash val="solid"/>
          </a:ln>
          <a:effectLst>
            <a:outerShdw sx="100000" sy="100000" kx="0" ky="0" algn="bl" rotWithShape="0" blurRad="12700" dist="5080" dir="2700000">
              <a:srgbClr val="000000">
                <a:alpha val="10000"/>
              </a:srgbClr>
            </a:outerShdw>
          </a:effectLst>
        </p:spPr>
      </p:sp>
      <p:sp>
        <p:nvSpPr>
          <p:cNvPr id="10" name="Text 8"/>
          <p:cNvSpPr/>
          <p:nvPr/>
        </p:nvSpPr>
        <p:spPr>
          <a:xfrm>
            <a:off x="6858000" y="1938528"/>
            <a:ext cx="4023360" cy="228600"/>
          </a:xfrm>
          <a:prstGeom prst="rect">
            <a:avLst/>
          </a:prstGeom>
          <a:noFill/>
          <a:ln/>
        </p:spPr>
        <p:txBody>
          <a:bodyPr wrap="square" rtlCol="0" anchor="ctr"/>
          <a:lstStyle/>
          <a:p>
            <a:pPr indent="0" marL="0">
              <a:buNone/>
            </a:pPr>
            <a:r>
              <a:rPr lang="en-US" sz="1400" b="1" dirty="0">
                <a:solidFill>
                  <a:srgbClr val="1F3C88"/>
                </a:solidFill>
              </a:rPr>
              <a:t>Doan van demo</a:t>
            </a:r>
            <a:endParaRPr lang="en-US" sz="1400" dirty="0"/>
          </a:p>
        </p:txBody>
      </p:sp>
      <p:sp>
        <p:nvSpPr>
          <p:cNvPr id="11" name="Text 9"/>
          <p:cNvSpPr/>
          <p:nvPr/>
        </p:nvSpPr>
        <p:spPr>
          <a:xfrm>
            <a:off x="6858000" y="2212848"/>
            <a:ext cx="4023360" cy="2103120"/>
          </a:xfrm>
          <a:prstGeom prst="rect">
            <a:avLst/>
          </a:prstGeom>
          <a:noFill/>
          <a:ln/>
        </p:spPr>
        <p:txBody>
          <a:bodyPr wrap="square" lIns="254" tIns="254" rIns="254" bIns="254" rtlCol="0" anchor="ctr"/>
          <a:lstStyle/>
          <a:p>
            <a:pPr indent="0" marL="0">
              <a:buNone/>
            </a:pPr>
            <a:r>
              <a:rPr lang="en-US" sz="1600" dirty="0">
                <a:solidFill>
                  <a:srgbClr val="1F2430"/>
                </a:solidFill>
              </a:rPr>
              <a:t>Cohort demo co 200 benh nhan. Ty le EGFR dot bien la 45.5 phan tram. Trong lan chia minh hoa, ROI ring1 dat AUC 0.815 va cao hon intra. Cross validation 5 fold cho mean AUC 0.810. Bootstrap 95 CI tu 0.686 den 0.925. Trong subset NGS 64 benh nhan, PI3K co delta median P 0.232.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84048"/>
          </a:xfrm>
          <a:prstGeom prst="rect">
            <a:avLst/>
          </a:prstGeom>
          <a:solidFill>
            <a:srgbClr val="1F3C88"/>
          </a:solidFill>
          <a:ln w="12700">
            <a:solidFill>
              <a:srgbClr val="1F3C88"/>
            </a:solidFill>
            <a:prstDash val="solid"/>
          </a:ln>
        </p:spPr>
      </p:sp>
      <p:sp>
        <p:nvSpPr>
          <p:cNvPr id="3" name="Text 1"/>
          <p:cNvSpPr/>
          <p:nvPr/>
        </p:nvSpPr>
        <p:spPr>
          <a:xfrm>
            <a:off x="548640" y="502920"/>
            <a:ext cx="1828800" cy="274320"/>
          </a:xfrm>
          <a:prstGeom prst="rect">
            <a:avLst/>
          </a:prstGeom>
          <a:noFill/>
          <a:ln/>
        </p:spPr>
        <p:txBody>
          <a:bodyPr wrap="square" rtlCol="0" anchor="ctr"/>
          <a:lstStyle/>
          <a:p>
            <a:pPr indent="0" marL="0">
              <a:buNone/>
            </a:pPr>
            <a:r>
              <a:rPr lang="en-US" sz="1200" b="1" dirty="0">
                <a:solidFill>
                  <a:srgbClr val="2FA5A3"/>
                </a:solidFill>
              </a:rPr>
              <a:t>Day 05</a:t>
            </a:r>
            <a:endParaRPr lang="en-US" sz="1200" dirty="0"/>
          </a:p>
        </p:txBody>
      </p:sp>
      <p:sp>
        <p:nvSpPr>
          <p:cNvPr id="4" name="Text 2"/>
          <p:cNvSpPr/>
          <p:nvPr/>
        </p:nvSpPr>
        <p:spPr>
          <a:xfrm>
            <a:off x="548640" y="868680"/>
            <a:ext cx="9144000" cy="640080"/>
          </a:xfrm>
          <a:prstGeom prst="rect">
            <a:avLst/>
          </a:prstGeom>
          <a:noFill/>
          <a:ln/>
        </p:spPr>
        <p:txBody>
          <a:bodyPr wrap="square" rtlCol="0" anchor="ctr"/>
          <a:lstStyle/>
          <a:p>
            <a:pPr indent="0" marL="0">
              <a:buNone/>
            </a:pPr>
            <a:r>
              <a:rPr lang="en-US" sz="2600" b="1" dirty="0">
                <a:solidFill>
                  <a:srgbClr val="1F2430"/>
                </a:solidFill>
              </a:rPr>
              <a:t>Ket qua demo</a:t>
            </a:r>
            <a:endParaRPr lang="en-US" sz="2600" dirty="0"/>
          </a:p>
        </p:txBody>
      </p:sp>
      <p:sp>
        <p:nvSpPr>
          <p:cNvPr id="5" name="Shape 3"/>
          <p:cNvSpPr/>
          <p:nvPr/>
        </p:nvSpPr>
        <p:spPr>
          <a:xfrm>
            <a:off x="548640" y="1627632"/>
            <a:ext cx="11064240" cy="0"/>
          </a:xfrm>
          <a:prstGeom prst="line">
            <a:avLst/>
          </a:prstGeom>
          <a:noFill/>
          <a:ln w="12700">
            <a:solidFill>
              <a:srgbClr val="D9E2F0"/>
            </a:solidFill>
            <a:prstDash val="solid"/>
          </a:ln>
        </p:spPr>
      </p:sp>
      <p:pic>
        <p:nvPicPr>
          <p:cNvPr id="6" name="Image 0" descr="/mnt/data/repo_final_build/book/_static/results/day05/flow_5days.png">    </p:cNvPr>
          <p:cNvPicPr>
            <a:picLocks noChangeAspect="1"/>
          </p:cNvPicPr>
          <p:nvPr/>
        </p:nvPicPr>
        <p:blipFill>
          <a:blip r:embed="rId1"/>
          <a:stretch>
            <a:fillRect/>
          </a:stretch>
        </p:blipFill>
        <p:spPr>
          <a:xfrm>
            <a:off x="822960" y="1981200"/>
            <a:ext cx="6035040" cy="3352800"/>
          </a:xfrm>
          <a:prstGeom prst="rect">
            <a:avLst/>
          </a:prstGeom>
        </p:spPr>
      </p:pic>
      <p:sp>
        <p:nvSpPr>
          <p:cNvPr id="7" name="Text 4"/>
          <p:cNvSpPr/>
          <p:nvPr/>
        </p:nvSpPr>
        <p:spPr>
          <a:xfrm>
            <a:off x="7223760" y="2057400"/>
            <a:ext cx="4023360" cy="2011680"/>
          </a:xfrm>
          <a:prstGeom prst="rect">
            <a:avLst/>
          </a:prstGeom>
          <a:noFill/>
          <a:ln/>
        </p:spPr>
        <p:txBody>
          <a:bodyPr wrap="square" lIns="635" tIns="635" rIns="635" bIns="635" rtlCol="0" anchor="ctr"/>
          <a:lstStyle/>
          <a:p>
            <a:pPr marL="203200" indent="-203200">
              <a:buSzPct val="100000"/>
              <a:buChar char="•"/>
            </a:pPr>
            <a:r>
              <a:rPr lang="en-US" sz="1900" dirty="0">
                <a:solidFill>
                  <a:srgbClr val="1F2430"/>
                </a:solidFill>
              </a:rPr>
              <a:t>Buoi 1  cohort</a:t>
            </a:r>
            <a:endParaRPr lang="en-US" sz="1900" dirty="0"/>
          </a:p>
          <a:p>
            <a:pPr marL="203200" indent="-203200">
              <a:buSzPct val="100000"/>
              <a:buChar char="•"/>
            </a:pPr>
            <a:r>
              <a:rPr lang="en-US" sz="1900" dirty="0">
                <a:solidFill>
                  <a:srgbClr val="1F2430"/>
                </a:solidFill>
              </a:rPr>
              <a:t>Buoi 2  AUC va ROI</a:t>
            </a:r>
            <a:endParaRPr lang="en-US" sz="1900" dirty="0"/>
          </a:p>
          <a:p>
            <a:pPr marL="203200" indent="-203200">
              <a:buSzPct val="100000"/>
              <a:buChar char="•"/>
            </a:pPr>
            <a:r>
              <a:rPr lang="en-US" sz="1900" dirty="0">
                <a:solidFill>
                  <a:srgbClr val="1F2430"/>
                </a:solidFill>
              </a:rPr>
              <a:t>Buoi 3  CV va bootstrap</a:t>
            </a:r>
            <a:endParaRPr lang="en-US" sz="1900" dirty="0"/>
          </a:p>
          <a:p>
            <a:pPr marL="203200" indent="-203200">
              <a:buSzPct val="100000"/>
              <a:buChar char="•"/>
            </a:pPr>
            <a:r>
              <a:rPr lang="en-US" sz="1900" dirty="0">
                <a:solidFill>
                  <a:srgbClr val="1F2430"/>
                </a:solidFill>
              </a:rPr>
              <a:t>Buoi 4  pathway</a:t>
            </a:r>
            <a:endParaRPr lang="en-US" sz="1900" dirty="0"/>
          </a:p>
          <a:p>
            <a:pPr marL="203200" indent="-203200">
              <a:buSzPct val="100000"/>
              <a:buChar char="•"/>
            </a:pPr>
            <a:r>
              <a:rPr lang="en-US" sz="1900" dirty="0">
                <a:solidFill>
                  <a:srgbClr val="1F2430"/>
                </a:solidFill>
              </a:rPr>
              <a:t>Buoi 5  summary va output</a:t>
            </a:r>
            <a:endParaRPr lang="en-US" sz="1900" dirty="0"/>
          </a:p>
        </p:txBody>
      </p:sp>
      <p:sp>
        <p:nvSpPr>
          <p:cNvPr id="8" name="Shape 5"/>
          <p:cNvSpPr/>
          <p:nvPr/>
        </p:nvSpPr>
        <p:spPr>
          <a:xfrm>
            <a:off x="7178040" y="4526280"/>
            <a:ext cx="4023360" cy="914400"/>
          </a:xfrm>
          <a:prstGeom prst="roundRect">
            <a:avLst>
              <a:gd name="adj" fmla="val 6000"/>
            </a:avLst>
          </a:prstGeom>
          <a:solidFill>
            <a:srgbClr val="FFF6E8"/>
          </a:solidFill>
          <a:ln w="12700">
            <a:solidFill>
              <a:srgbClr val="FFF6E8"/>
            </a:solidFill>
            <a:prstDash val="solid"/>
          </a:ln>
          <a:effectLst>
            <a:outerShdw sx="100000" sy="100000" kx="0" ky="0" algn="bl" rotWithShape="0" blurRad="12700" dist="5080" dir="2700000">
              <a:srgbClr val="000000">
                <a:alpha val="10000"/>
              </a:srgbClr>
            </a:outerShdw>
          </a:effectLst>
        </p:spPr>
      </p:sp>
      <p:sp>
        <p:nvSpPr>
          <p:cNvPr id="9" name="Text 6"/>
          <p:cNvSpPr/>
          <p:nvPr/>
        </p:nvSpPr>
        <p:spPr>
          <a:xfrm>
            <a:off x="7315200" y="4636008"/>
            <a:ext cx="3749040" cy="228600"/>
          </a:xfrm>
          <a:prstGeom prst="rect">
            <a:avLst/>
          </a:prstGeom>
          <a:noFill/>
          <a:ln/>
        </p:spPr>
        <p:txBody>
          <a:bodyPr wrap="square" rtlCol="0" anchor="ctr"/>
          <a:lstStyle/>
          <a:p>
            <a:pPr indent="0" marL="0">
              <a:buNone/>
            </a:pPr>
            <a:r>
              <a:rPr lang="en-US" sz="1400" b="1" dirty="0">
                <a:solidFill>
                  <a:srgbClr val="1F3C88"/>
                </a:solidFill>
              </a:rPr>
              <a:t>Y nghia</a:t>
            </a:r>
            <a:endParaRPr lang="en-US" sz="1400" dirty="0"/>
          </a:p>
        </p:txBody>
      </p:sp>
      <p:sp>
        <p:nvSpPr>
          <p:cNvPr id="10" name="Text 7"/>
          <p:cNvSpPr/>
          <p:nvPr/>
        </p:nvSpPr>
        <p:spPr>
          <a:xfrm>
            <a:off x="7315200" y="4910328"/>
            <a:ext cx="3749040" cy="457200"/>
          </a:xfrm>
          <a:prstGeom prst="rect">
            <a:avLst/>
          </a:prstGeom>
          <a:noFill/>
          <a:ln/>
        </p:spPr>
        <p:txBody>
          <a:bodyPr wrap="square" lIns="254" tIns="254" rIns="254" bIns="254" rtlCol="0" anchor="ctr"/>
          <a:lstStyle/>
          <a:p>
            <a:pPr indent="0" marL="0">
              <a:buNone/>
            </a:pPr>
            <a:r>
              <a:rPr lang="en-US" sz="1600" dirty="0">
                <a:solidFill>
                  <a:srgbClr val="1F2430"/>
                </a:solidFill>
              </a:rPr>
              <a:t>Hoc sinh nhin hinh nay se thay duoc toan bo flow cua bao cao.</a:t>
            </a:r>
            <a:endParaRPr lang="en-US" sz="1600" dirty="0"/>
          </a:p>
          <a:p>
            <a:pPr indent="0" marL="0">
              <a:buNone/>
            </a:pPr>
            <a:r>
              <a:rPr lang="en-US" sz="1600" dirty="0">
                <a:solidFill>
                  <a:srgbClr val="1F2430"/>
                </a:solidFill>
              </a:rPr>
              <a:t>Khi noi bai co the bam theo dung 5 buoc nay.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84048"/>
          </a:xfrm>
          <a:prstGeom prst="rect">
            <a:avLst/>
          </a:prstGeom>
          <a:solidFill>
            <a:srgbClr val="1F3C88"/>
          </a:solidFill>
          <a:ln w="12700">
            <a:solidFill>
              <a:srgbClr val="1F3C88"/>
            </a:solidFill>
            <a:prstDash val="solid"/>
          </a:ln>
        </p:spPr>
      </p:sp>
      <p:sp>
        <p:nvSpPr>
          <p:cNvPr id="3" name="Text 1"/>
          <p:cNvSpPr/>
          <p:nvPr/>
        </p:nvSpPr>
        <p:spPr>
          <a:xfrm>
            <a:off x="548640" y="502920"/>
            <a:ext cx="1828800" cy="274320"/>
          </a:xfrm>
          <a:prstGeom prst="rect">
            <a:avLst/>
          </a:prstGeom>
          <a:noFill/>
          <a:ln/>
        </p:spPr>
        <p:txBody>
          <a:bodyPr wrap="square" rtlCol="0" anchor="ctr"/>
          <a:lstStyle/>
          <a:p>
            <a:pPr indent="0" marL="0">
              <a:buNone/>
            </a:pPr>
            <a:r>
              <a:rPr lang="en-US" sz="1200" b="1" dirty="0">
                <a:solidFill>
                  <a:srgbClr val="2FA5A3"/>
                </a:solidFill>
              </a:rPr>
              <a:t>Day 05</a:t>
            </a:r>
            <a:endParaRPr lang="en-US" sz="1200" dirty="0"/>
          </a:p>
        </p:txBody>
      </p:sp>
      <p:sp>
        <p:nvSpPr>
          <p:cNvPr id="4" name="Text 2"/>
          <p:cNvSpPr/>
          <p:nvPr/>
        </p:nvSpPr>
        <p:spPr>
          <a:xfrm>
            <a:off x="548640" y="868680"/>
            <a:ext cx="9144000" cy="640080"/>
          </a:xfrm>
          <a:prstGeom prst="rect">
            <a:avLst/>
          </a:prstGeom>
          <a:noFill/>
          <a:ln/>
        </p:spPr>
        <p:txBody>
          <a:bodyPr wrap="square" rtlCol="0" anchor="ctr"/>
          <a:lstStyle/>
          <a:p>
            <a:pPr indent="0" marL="0">
              <a:buNone/>
            </a:pPr>
            <a:r>
              <a:rPr lang="en-US" sz="2600" b="1" dirty="0">
                <a:solidFill>
                  <a:srgbClr val="1F2430"/>
                </a:solidFill>
              </a:rPr>
              <a:t>Checklist cuoi khoa</a:t>
            </a:r>
            <a:endParaRPr lang="en-US" sz="2600" dirty="0"/>
          </a:p>
        </p:txBody>
      </p:sp>
      <p:sp>
        <p:nvSpPr>
          <p:cNvPr id="5" name="Shape 3"/>
          <p:cNvSpPr/>
          <p:nvPr/>
        </p:nvSpPr>
        <p:spPr>
          <a:xfrm>
            <a:off x="548640" y="1627632"/>
            <a:ext cx="11064240" cy="0"/>
          </a:xfrm>
          <a:prstGeom prst="line">
            <a:avLst/>
          </a:prstGeom>
          <a:noFill/>
          <a:ln w="12700">
            <a:solidFill>
              <a:srgbClr val="D9E2F0"/>
            </a:solidFill>
            <a:prstDash val="solid"/>
          </a:ln>
        </p:spPr>
      </p:sp>
      <p:sp>
        <p:nvSpPr>
          <p:cNvPr id="6" name="Text 4"/>
          <p:cNvSpPr/>
          <p:nvPr/>
        </p:nvSpPr>
        <p:spPr>
          <a:xfrm>
            <a:off x="868680" y="1920240"/>
            <a:ext cx="5303520" cy="3017520"/>
          </a:xfrm>
          <a:prstGeom prst="rect">
            <a:avLst/>
          </a:prstGeom>
          <a:noFill/>
          <a:ln/>
        </p:spPr>
        <p:txBody>
          <a:bodyPr wrap="square" lIns="635" tIns="635" rIns="635" bIns="635" rtlCol="0" anchor="ctr"/>
          <a:lstStyle/>
          <a:p>
            <a:pPr marL="203200" indent="-203200">
              <a:buSzPct val="100000"/>
              <a:buChar char="•"/>
            </a:pPr>
            <a:r>
              <a:rPr lang="en-US" sz="1900" dirty="0">
                <a:solidFill>
                  <a:srgbClr val="1F2430"/>
                </a:solidFill>
              </a:rPr>
              <a:t>Biet doc Table 1</a:t>
            </a:r>
            <a:endParaRPr lang="en-US" sz="1900" dirty="0"/>
          </a:p>
          <a:p>
            <a:pPr marL="203200" indent="-203200">
              <a:buSzPct val="100000"/>
              <a:buChar char="•"/>
            </a:pPr>
            <a:r>
              <a:rPr lang="en-US" sz="1900" dirty="0">
                <a:solidFill>
                  <a:srgbClr val="1F2430"/>
                </a:solidFill>
              </a:rPr>
              <a:t>Biet doc ROC va confusion matrix</a:t>
            </a:r>
            <a:endParaRPr lang="en-US" sz="1900" dirty="0"/>
          </a:p>
          <a:p>
            <a:pPr marL="203200" indent="-203200">
              <a:buSzPct val="100000"/>
              <a:buChar char="•"/>
            </a:pPr>
            <a:r>
              <a:rPr lang="en-US" sz="1900" dirty="0">
                <a:solidFill>
                  <a:srgbClr val="1F2430"/>
                </a:solidFill>
              </a:rPr>
              <a:t>Biet vi sao phai xem CV va bootstrap</a:t>
            </a:r>
            <a:endParaRPr lang="en-US" sz="1900" dirty="0"/>
          </a:p>
          <a:p>
            <a:pPr marL="203200" indent="-203200">
              <a:buSzPct val="100000"/>
              <a:buChar char="•"/>
            </a:pPr>
            <a:r>
              <a:rPr lang="en-US" sz="1900" dirty="0">
                <a:solidFill>
                  <a:srgbClr val="1F2430"/>
                </a:solidFill>
              </a:rPr>
              <a:t>Biet delta median P la gi</a:t>
            </a:r>
            <a:endParaRPr lang="en-US" sz="1900" dirty="0"/>
          </a:p>
          <a:p>
            <a:pPr marL="203200" indent="-203200">
              <a:buSzPct val="100000"/>
              <a:buChar char="•"/>
            </a:pPr>
            <a:r>
              <a:rPr lang="en-US" sz="1900" dirty="0">
                <a:solidFill>
                  <a:srgbClr val="1F2430"/>
                </a:solidFill>
              </a:rPr>
              <a:t>Biet ghep ket qua thanh doan tom tat</a:t>
            </a:r>
            <a:endParaRPr lang="en-US" sz="1900" dirty="0"/>
          </a:p>
        </p:txBody>
      </p:sp>
      <p:sp>
        <p:nvSpPr>
          <p:cNvPr id="7" name="Shape 5"/>
          <p:cNvSpPr/>
          <p:nvPr/>
        </p:nvSpPr>
        <p:spPr>
          <a:xfrm>
            <a:off x="6492240" y="2103120"/>
            <a:ext cx="4389120" cy="1828800"/>
          </a:xfrm>
          <a:prstGeom prst="roundRect">
            <a:avLst>
              <a:gd name="adj" fmla="val 3000"/>
            </a:avLst>
          </a:prstGeom>
          <a:solidFill>
            <a:srgbClr val="EAF7F0"/>
          </a:solidFill>
          <a:ln w="12700">
            <a:solidFill>
              <a:srgbClr val="EAF7F0"/>
            </a:solidFill>
            <a:prstDash val="solid"/>
          </a:ln>
          <a:effectLst>
            <a:outerShdw sx="100000" sy="100000" kx="0" ky="0" algn="bl" rotWithShape="0" blurRad="12700" dist="5080" dir="2700000">
              <a:srgbClr val="000000">
                <a:alpha val="10000"/>
              </a:srgbClr>
            </a:outerShdw>
          </a:effectLst>
        </p:spPr>
      </p:sp>
      <p:sp>
        <p:nvSpPr>
          <p:cNvPr id="8" name="Text 6"/>
          <p:cNvSpPr/>
          <p:nvPr/>
        </p:nvSpPr>
        <p:spPr>
          <a:xfrm>
            <a:off x="6629400" y="2212848"/>
            <a:ext cx="4114800" cy="228600"/>
          </a:xfrm>
          <a:prstGeom prst="rect">
            <a:avLst/>
          </a:prstGeom>
          <a:noFill/>
          <a:ln/>
        </p:spPr>
        <p:txBody>
          <a:bodyPr wrap="square" rtlCol="0" anchor="ctr"/>
          <a:lstStyle/>
          <a:p>
            <a:pPr indent="0" marL="0">
              <a:buNone/>
            </a:pPr>
            <a:r>
              <a:rPr lang="en-US" sz="1400" b="1" dirty="0">
                <a:solidFill>
                  <a:srgbClr val="1F3C88"/>
                </a:solidFill>
              </a:rPr>
              <a:t>Bo file cuoi</a:t>
            </a:r>
            <a:endParaRPr lang="en-US" sz="1400" dirty="0"/>
          </a:p>
        </p:txBody>
      </p:sp>
      <p:sp>
        <p:nvSpPr>
          <p:cNvPr id="9" name="Text 7"/>
          <p:cNvSpPr/>
          <p:nvPr/>
        </p:nvSpPr>
        <p:spPr>
          <a:xfrm>
            <a:off x="6629400" y="2487168"/>
            <a:ext cx="4114800" cy="1371600"/>
          </a:xfrm>
          <a:prstGeom prst="rect">
            <a:avLst/>
          </a:prstGeom>
          <a:noFill/>
          <a:ln/>
        </p:spPr>
        <p:txBody>
          <a:bodyPr wrap="square" lIns="254" tIns="254" rIns="254" bIns="254" rtlCol="0" anchor="ctr"/>
          <a:lstStyle/>
          <a:p>
            <a:pPr indent="0" marL="0">
              <a:buNone/>
            </a:pPr>
            <a:r>
              <a:rPr lang="en-US" sz="1600" dirty="0">
                <a:solidFill>
                  <a:srgbClr val="1F2430"/>
                </a:solidFill>
              </a:rPr>
              <a:t>key_numbers_table.csv</a:t>
            </a:r>
            <a:endParaRPr lang="en-US" sz="1600" dirty="0"/>
          </a:p>
          <a:p>
            <a:pPr indent="0" marL="0">
              <a:buNone/>
            </a:pPr>
            <a:r>
              <a:rPr lang="en-US" sz="1600" dirty="0">
                <a:solidFill>
                  <a:srgbClr val="1F2430"/>
                </a:solidFill>
              </a:rPr>
              <a:t>summary_demo.txt</a:t>
            </a:r>
            <a:endParaRPr lang="en-US" sz="1600" dirty="0"/>
          </a:p>
          <a:p>
            <a:pPr indent="0" marL="0">
              <a:buNone/>
            </a:pPr>
            <a:r>
              <a:rPr lang="en-US" sz="1600" dirty="0">
                <a:solidFill>
                  <a:srgbClr val="1F2430"/>
                </a:solidFill>
              </a:rPr>
              <a:t>flow_5days.png</a:t>
            </a:r>
            <a:endParaRPr lang="en-US" sz="1600" dirty="0"/>
          </a:p>
          <a:p>
            <a:pPr indent="0" marL="0">
              <a:buNone/>
            </a:pPr>
            <a:r>
              <a:rPr lang="en-US" sz="1600" dirty="0">
                <a:solidFill>
                  <a:srgbClr val="1F2430"/>
                </a:solidFill>
              </a:rPr>
              <a:t>report_roi_table.csv</a:t>
            </a:r>
            <a:endParaRPr lang="en-US" sz="1600" dirty="0"/>
          </a:p>
          <a:p>
            <a:pPr indent="0" marL="0">
              <a:buNone/>
            </a:pPr>
            <a:r>
              <a:rPr lang="en-US" sz="1600" dirty="0">
                <a:solidFill>
                  <a:srgbClr val="1F2430"/>
                </a:solidFill>
              </a:rPr>
              <a:t>report_pathway_table.csv</a:t>
            </a:r>
            <a:endParaRPr lang="en-US" sz="1600" dirty="0"/>
          </a:p>
        </p:txBody>
      </p:sp>
      <p:sp>
        <p:nvSpPr>
          <p:cNvPr id="10" name="Shape 8"/>
          <p:cNvSpPr/>
          <p:nvPr/>
        </p:nvSpPr>
        <p:spPr>
          <a:xfrm>
            <a:off x="6492240" y="4434840"/>
            <a:ext cx="4389120" cy="1051560"/>
          </a:xfrm>
          <a:prstGeom prst="roundRect">
            <a:avLst>
              <a:gd name="adj" fmla="val 5217"/>
            </a:avLst>
          </a:prstGeom>
          <a:solidFill>
            <a:srgbClr val="EEF6FF"/>
          </a:solidFill>
          <a:ln w="12700">
            <a:solidFill>
              <a:srgbClr val="EEF6FF"/>
            </a:solidFill>
            <a:prstDash val="solid"/>
          </a:ln>
          <a:effectLst>
            <a:outerShdw sx="100000" sy="100000" kx="0" ky="0" algn="bl" rotWithShape="0" blurRad="12700" dist="5080" dir="2700000">
              <a:srgbClr val="000000">
                <a:alpha val="10000"/>
              </a:srgbClr>
            </a:outerShdw>
          </a:effectLst>
        </p:spPr>
      </p:sp>
      <p:sp>
        <p:nvSpPr>
          <p:cNvPr id="11" name="Text 9"/>
          <p:cNvSpPr/>
          <p:nvPr/>
        </p:nvSpPr>
        <p:spPr>
          <a:xfrm>
            <a:off x="6629400" y="4544568"/>
            <a:ext cx="4114800" cy="228600"/>
          </a:xfrm>
          <a:prstGeom prst="rect">
            <a:avLst/>
          </a:prstGeom>
          <a:noFill/>
          <a:ln/>
        </p:spPr>
        <p:txBody>
          <a:bodyPr wrap="square" rtlCol="0" anchor="ctr"/>
          <a:lstStyle/>
          <a:p>
            <a:pPr indent="0" marL="0">
              <a:buNone/>
            </a:pPr>
            <a:r>
              <a:rPr lang="en-US" sz="1400" b="1" dirty="0">
                <a:solidFill>
                  <a:srgbClr val="1F3C88"/>
                </a:solidFill>
              </a:rPr>
              <a:t>Muc tieu cua website</a:t>
            </a:r>
            <a:endParaRPr lang="en-US" sz="1400" dirty="0"/>
          </a:p>
        </p:txBody>
      </p:sp>
      <p:sp>
        <p:nvSpPr>
          <p:cNvPr id="12" name="Text 10"/>
          <p:cNvSpPr/>
          <p:nvPr/>
        </p:nvSpPr>
        <p:spPr>
          <a:xfrm>
            <a:off x="6629400" y="4818888"/>
            <a:ext cx="4114800" cy="594360"/>
          </a:xfrm>
          <a:prstGeom prst="rect">
            <a:avLst/>
          </a:prstGeom>
          <a:noFill/>
          <a:ln/>
        </p:spPr>
        <p:txBody>
          <a:bodyPr wrap="square" lIns="254" tIns="254" rIns="254" bIns="254" rtlCol="0" anchor="ctr"/>
          <a:lstStyle/>
          <a:p>
            <a:pPr indent="0" marL="0">
              <a:buNone/>
            </a:pPr>
            <a:r>
              <a:rPr lang="en-US" sz="1600" dirty="0">
                <a:solidFill>
                  <a:srgbClr val="1F2430"/>
                </a:solidFill>
              </a:rPr>
              <a:t>Hoc sinh khong can thuoc tung dong code.</a:t>
            </a:r>
            <a:endParaRPr lang="en-US" sz="1600" dirty="0"/>
          </a:p>
          <a:p>
            <a:pPr indent="0" marL="0">
              <a:buNone/>
            </a:pPr>
            <a:r>
              <a:rPr lang="en-US" sz="1600" dirty="0">
                <a:solidFill>
                  <a:srgbClr val="1F2430"/>
                </a:solidFill>
              </a:rPr>
              <a:t>Can hieu doan code do tao ra bang gi va hinh gi.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05</dc:title>
  <dc:subject>PptxGenJS Presentation</dc:subject>
  <dc:creator>OpenAI</dc:creator>
  <cp:lastModifiedBy>OpenAI</cp:lastModifiedBy>
  <cp:revision>1</cp:revision>
  <dcterms:created xsi:type="dcterms:W3CDTF">2026-03-07T13:16:04Z</dcterms:created>
  <dcterms:modified xsi:type="dcterms:W3CDTF">2026-03-07T13:16:04Z</dcterms:modified>
</cp:coreProperties>
</file>