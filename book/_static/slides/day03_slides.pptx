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Output  book/_static/results/day03/cv_auc_table.csv
- Output  book/_static/results/day03/bootstrap_auc_values.csv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Notebook  book/day03.ipynb
- Output  book/_static/results/day03/cv_auc_table.csv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Output  book/_static/results/day03/cv_auc_bar.png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Notebook  book/day03.ipynb
- Output  book/_static/results/day03/leakage_demo.csv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[Sources]
- Output  book/_static/results/day03/bootstrap_auc_hist.png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Do on dinh va leakage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77240" y="1965960"/>
            <a:ext cx="5029200" cy="26517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Tinh AUC theo 5 fold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Tinh bootstrap CI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Xem leakage lam dep ket qua the nao</a:t>
            </a:r>
            <a:endParaRPr lang="en-US" sz="2000" dirty="0"/>
          </a:p>
          <a:p>
            <a:pPr marL="203200" indent="-203200">
              <a:buSzPct val="100000"/>
              <a:buChar char="•"/>
            </a:pPr>
            <a:r>
              <a:rPr lang="en-US" sz="2000" dirty="0">
                <a:solidFill>
                  <a:srgbClr val="1F2430"/>
                </a:solidFill>
              </a:rPr>
              <a:t>Noi ket qua than trong hon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6400800" y="2011680"/>
            <a:ext cx="4663440" cy="1737360"/>
          </a:xfrm>
          <a:prstGeom prst="roundRect">
            <a:avLst>
              <a:gd name="adj" fmla="val 3158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47104" y="2139696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Ba con so can nho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47104" y="2432304"/>
            <a:ext cx="4370832" cy="122529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Mean AUC cua 5 fold  0.810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Bootstrap CI thap  0.686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Bootstrap CI cao  0.925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0" y="4160520"/>
            <a:ext cx="4663440" cy="1143000"/>
          </a:xfrm>
          <a:prstGeom prst="roundRect">
            <a:avLst>
              <a:gd name="adj" fmla="val 4800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47104" y="4288536"/>
            <a:ext cx="43708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Y chinh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47104" y="4581144"/>
            <a:ext cx="4370832" cy="6309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Khong doc AUC nhu mot con so co dinh.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Phai xem no dao dong ra sao.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Code cross validation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577840" cy="3017520"/>
          </a:xfrm>
          <a:prstGeom prst="roundRect">
            <a:avLst>
              <a:gd name="adj" fmla="val 1818"/>
            </a:avLst>
          </a:prstGeom>
          <a:solidFill>
            <a:srgbClr val="F7F9FC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901952"/>
            <a:ext cx="5321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575"/>
                </a:solidFill>
              </a:rPr>
              <a:t>Code chinh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39696"/>
            <a:ext cx="5358384" cy="263347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StratifiedKFold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n_splits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shuffle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random_state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cv_scores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cross_val_score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scoring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'roc_auc'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cv_table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DataFrame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'Fold'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'AUC'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round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cv_scores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28800"/>
          <a:ext cx="4297680" cy="2057400"/>
        </p:xfrm>
        <a:graphic>
          <a:graphicData uri="http://schemas.openxmlformats.org/drawingml/2006/table">
            <a:tbl>
              <a:tblPr/>
              <a:tblGrid>
                <a:gridCol w="1547165"/>
                <a:gridCol w="2750515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Fold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AUC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0.747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0.833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0.785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4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0.778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5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0.909</a:t>
                      </a:r>
                      <a:endParaRPr lang="en-US" sz="12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4389120"/>
            <a:ext cx="4389120" cy="914400"/>
          </a:xfrm>
          <a:prstGeom prst="roundRect">
            <a:avLst>
              <a:gd name="adj" fmla="val 6000"/>
            </a:avLst>
          </a:prstGeom>
          <a:solidFill>
            <a:srgbClr val="EAF7F0"/>
          </a:solidFill>
          <a:ln w="12700">
            <a:solidFill>
              <a:srgbClr val="EAF7F0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729984" y="4517136"/>
            <a:ext cx="40965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Diem can noi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729984" y="4809744"/>
            <a:ext cx="409651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Neu cac fold chenh nhau qua nhieu thi can canh giac.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O bo demo nay cac fold chua qua vach nhau.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Ket qua demo  CV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pic>
        <p:nvPicPr>
          <p:cNvPr id="7" name="Image 0" descr="/mnt/data/repo_final_build/book/_static/results/day03/cv_auc_b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3640" y="1828800"/>
            <a:ext cx="5679440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543800" y="2103120"/>
            <a:ext cx="3749040" cy="1828800"/>
          </a:xfrm>
          <a:prstGeom prst="roundRect">
            <a:avLst>
              <a:gd name="adj" fmla="val 3000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690104" y="2231136"/>
            <a:ext cx="34564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Cach doc hinh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690104" y="2523744"/>
            <a:ext cx="3456432" cy="13167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Duong ngang la mean AUC.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Hoc sinh chi can nhin fold nao cao thap bat thuong.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Muc tieu la biet ket qua co dao dong hay khong.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Code bootstrap va leakage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5577840" cy="3108960"/>
          </a:xfrm>
          <a:prstGeom prst="roundRect">
            <a:avLst>
              <a:gd name="adj" fmla="val 1765"/>
            </a:avLst>
          </a:prstGeom>
          <a:solidFill>
            <a:srgbClr val="F7F9FC"/>
          </a:solidFill>
          <a:ln w="12700">
            <a:solidFill>
              <a:srgbClr val="D9E2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901952"/>
            <a:ext cx="532180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C6575"/>
                </a:solidFill>
              </a:rPr>
              <a:t>Code bootstrap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41248" y="2139696"/>
            <a:ext cx="5358384" cy="272491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boot_aucs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_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idx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rng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integers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y_test_reset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y_test_reset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y_boot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y_test_reset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iloc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p_boot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prob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idx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y_boot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nunique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continue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boot_aucs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roc_auc_score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y_boot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p_boot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ci_low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ci_high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np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quantile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0.025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0.975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1828800"/>
          <a:ext cx="4572000" cy="1280160"/>
        </p:xfrm>
        <a:graphic>
          <a:graphicData uri="http://schemas.openxmlformats.org/drawingml/2006/table">
            <a:tbl>
              <a:tblPr/>
              <a:tblGrid>
                <a:gridCol w="1645920"/>
                <a:gridCol w="292608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Cach tinh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Mean AUC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Dung pipeline trong CV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0.81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Scale truoc roi moi CV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43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0.774</a:t>
                      </a:r>
                      <a:endParaRPr lang="en-US" sz="11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45720" marR="45720" marT="45720" marB="45720" anchor="mid">
                    <a:lnL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2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583680" y="3474720"/>
            <a:ext cx="4572000" cy="914400"/>
          </a:xfrm>
          <a:prstGeom prst="roundRect">
            <a:avLst>
              <a:gd name="adj" fmla="val 6000"/>
            </a:avLst>
          </a:prstGeom>
          <a:solidFill>
            <a:srgbClr val="FFF6E8"/>
          </a:solidFill>
          <a:ln w="12700">
            <a:solidFill>
              <a:srgbClr val="FFF6E8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729984" y="3602736"/>
            <a:ext cx="427939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Leakage demo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6729984" y="3895344"/>
            <a:ext cx="4279392" cy="40233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Scale truoc roi moi CV la cach lam sai.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Ket qua co the dep hon thuc te.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F3C88"/>
          </a:solidFill>
          <a:ln w="12700">
            <a:solidFill>
              <a:srgbClr val="1F3C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502920"/>
            <a:ext cx="2011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A5A3"/>
                </a:solidFill>
              </a:rPr>
              <a:t>Day 03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868680"/>
            <a:ext cx="8961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2430"/>
                </a:solidFill>
              </a:rPr>
              <a:t>Ket qua demo  bootstrap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1627632"/>
            <a:ext cx="11064240" cy="0"/>
          </a:xfrm>
          <a:prstGeom prst="line">
            <a:avLst/>
          </a:prstGeom>
          <a:noFill/>
          <a:ln w="12700">
            <a:solidFill>
              <a:srgbClr val="D9E2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2520" y="530352"/>
            <a:ext cx="29260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</a:rPr>
              <a:t>EGFR Radiomics Mini Bootcamp</a:t>
            </a:r>
            <a:endParaRPr lang="en-US" sz="1000" dirty="0"/>
          </a:p>
        </p:txBody>
      </p:sp>
      <p:pic>
        <p:nvPicPr>
          <p:cNvPr id="7" name="Image 0" descr="/mnt/data/repo_final_build/book/_static/results/day03/bootstrap_auc_hi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0470" y="1828800"/>
            <a:ext cx="5788660" cy="39319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726680" y="2011680"/>
            <a:ext cx="3291840" cy="1554480"/>
          </a:xfrm>
          <a:prstGeom prst="roundRect">
            <a:avLst>
              <a:gd name="adj" fmla="val 3529"/>
            </a:avLst>
          </a:prstGeom>
          <a:solidFill>
            <a:srgbClr val="EEF6FF"/>
          </a:solidFill>
          <a:ln w="12700">
            <a:solidFill>
              <a:srgbClr val="EEF6FF"/>
            </a:solidFill>
            <a:prstDash val="solid"/>
          </a:ln>
          <a:effectLst>
            <a:outerShdw sx="100000" sy="100000" kx="0" ky="0" algn="bl" rotWithShape="0" blurRad="12700" dist="5080" dir="27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7872984" y="2139696"/>
            <a:ext cx="2999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C88"/>
                </a:solidFill>
              </a:rPr>
              <a:t>Cau chot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872984" y="2432304"/>
            <a:ext cx="2999232" cy="104241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Bootstrap cho 95 CI tu 0.686 den 0.925.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430"/>
                </a:solidFill>
              </a:rPr>
              <a:t>Noi dieu nay se thuyet phuc hon la chi noi AUC.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726680" y="3840480"/>
            <a:ext cx="3291840" cy="12801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/>
          <a:lstStyle/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</a:rPr>
              <a:t>Khong noi mot con so duy nhat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</a:rPr>
              <a:t>Noi them CV va bootstrap</a:t>
            </a:r>
            <a:endParaRPr lang="en-US" sz="1650" dirty="0"/>
          </a:p>
          <a:p>
            <a:pPr marL="203200" indent="-203200">
              <a:buSzPct val="100000"/>
              <a:buChar char="•"/>
            </a:pPr>
            <a:r>
              <a:rPr lang="en-US" sz="1650" dirty="0">
                <a:solidFill>
                  <a:srgbClr val="1F2430"/>
                </a:solidFill>
              </a:rPr>
              <a:t>Bao ve ket qua vung hon</a:t>
            </a:r>
            <a:endParaRPr lang="en-US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Day 03</dc:title>
  <dc:subject>Day 03</dc:subject>
  <dc:creator>OpenAI</dc:creator>
  <cp:lastModifiedBy>OpenAI</cp:lastModifiedBy>
  <cp:revision>1</cp:revision>
  <dcterms:created xsi:type="dcterms:W3CDTF">2026-03-07T13:13:50Z</dcterms:created>
  <dcterms:modified xsi:type="dcterms:W3CDTF">2026-03-07T13:13:50Z</dcterms:modified>
</cp:coreProperties>
</file>