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" y="0"/>
            <a:ext cx="64008" cy="6858000"/>
          </a:xfrm>
          <a:prstGeom prst="rect">
            <a:avLst/>
          </a:prstGeom>
          <a:solidFill>
            <a:srgbClr val="2E64D1"/>
          </a:solidFill>
          <a:ln w="12700">
            <a:solidFill>
              <a:srgbClr val="2E64D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9144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64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01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097280" y="91440"/>
            <a:ext cx="5943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Mô tả dữ liệu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02920" y="685800"/>
            <a:ext cx="70408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01 — Mô tả dữ liệu và đọc Table 1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530352" y="1828800"/>
            <a:ext cx="6217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67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Từ cohort demo đến ba hình cơ bản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02920" y="2240280"/>
            <a:ext cx="4572000" cy="1920240"/>
          </a:xfrm>
          <a:prstGeom prst="roundRect">
            <a:avLst>
              <a:gd name="adj" fmla="val 4762"/>
            </a:avLst>
          </a:prstGeom>
          <a:solidFill>
            <a:srgbClr val="F5F7FB"/>
          </a:solidFill>
          <a:ln w="12700">
            <a:solidFill>
              <a:srgbClr val="D6DCE8"/>
            </a:solidFill>
            <a:prstDash val="solid"/>
          </a:ln>
          <a:effectLst>
            <a:outerShdw sx="100000" sy="100000" kx="0" ky="0" algn="bl" rotWithShape="0" blurRad="12700" dist="127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67512" y="2386584"/>
            <a:ext cx="42428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Buổi này làm gì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31520" y="2697480"/>
            <a:ext cx="4023360" cy="11887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marL="177800" indent="-177800"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Đọc cohort và chia nhóm biến</a:t>
            </a:r>
            <a:endParaRPr lang="en-US" sz="1300" dirty="0"/>
          </a:p>
          <a:p>
            <a:pPr marL="177800" indent="-177800"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Tạo Table 1 đủ ngắn để đọc nhanh</a:t>
            </a:r>
            <a:endParaRPr lang="en-US" sz="1300" dirty="0"/>
          </a:p>
          <a:p>
            <a:pPr marL="177800" indent="-177800"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Vẽ ba hình cơ bản trước khi sang phần model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0" y="2331720"/>
            <a:ext cx="1508760" cy="548640"/>
          </a:xfrm>
          <a:prstGeom prst="roundRect">
            <a:avLst>
              <a:gd name="adj" fmla="val 13333"/>
            </a:avLst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596128" y="2414016"/>
            <a:ext cx="12893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67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Cohort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5596128" y="2578608"/>
            <a:ext cx="12893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7178040" y="2331720"/>
            <a:ext cx="1737360" cy="548640"/>
          </a:xfrm>
          <a:prstGeom prst="roundRect">
            <a:avLst>
              <a:gd name="adj" fmla="val 13333"/>
            </a:avLst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287768" y="2414016"/>
            <a:ext cx="15179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67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EGFR dương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7287768" y="2578608"/>
            <a:ext cx="15179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45.5 %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9098280" y="2331720"/>
            <a:ext cx="1554480" cy="548640"/>
          </a:xfrm>
          <a:prstGeom prst="roundRect">
            <a:avLst>
              <a:gd name="adj" fmla="val 13333"/>
            </a:avLst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208008" y="2414016"/>
            <a:ext cx="133502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67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Tuổi TB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208008" y="2578608"/>
            <a:ext cx="13350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60.4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5486400" y="3063240"/>
            <a:ext cx="2011680" cy="548640"/>
          </a:xfrm>
          <a:prstGeom prst="roundRect">
            <a:avLst>
              <a:gd name="adj" fmla="val 13333"/>
            </a:avLst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596128" y="3145536"/>
            <a:ext cx="179222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67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Kích thước u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5596128" y="3310128"/>
            <a:ext cx="17922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35.5 mm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7635240" y="3017520"/>
            <a:ext cx="3931920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D6DCE8"/>
            </a:solidFill>
            <a:prstDash val="solid"/>
          </a:ln>
          <a:effectLst>
            <a:outerShdw sx="100000" sy="100000" kx="0" ky="0" algn="bl" rotWithShape="0" blurRad="12700" dist="12700" dir="2700000">
              <a:srgbClr val="000000">
                <a:alpha val="10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7772400" y="3127248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Một hình để nhớ</a:t>
            </a:r>
            <a:endParaRPr lang="en-US" sz="1200" dirty="0"/>
          </a:p>
        </p:txBody>
      </p:sp>
      <p:pic>
        <p:nvPicPr>
          <p:cNvPr id="25" name="Image 0" descr="/mnt/data/final_repo/book/_static/figures/day01_age_hi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0" y="3432851"/>
            <a:ext cx="3657600" cy="2415458"/>
          </a:xfrm>
          <a:prstGeom prst="rect">
            <a:avLst/>
          </a:prstGeom>
        </p:spPr>
      </p:pic>
      <p:sp>
        <p:nvSpPr>
          <p:cNvPr id="26" name="Shape 23"/>
          <p:cNvSpPr/>
          <p:nvPr/>
        </p:nvSpPr>
        <p:spPr>
          <a:xfrm>
            <a:off x="365760" y="6565392"/>
            <a:ext cx="11384280" cy="164592"/>
          </a:xfrm>
          <a:prstGeom prst="rect">
            <a:avLst/>
          </a:prstGeom>
          <a:solidFill>
            <a:srgbClr val="2E64D1"/>
          </a:solidFill>
          <a:ln w="12700">
            <a:solidFill>
              <a:srgbClr val="2E64D1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502920" y="6400800"/>
            <a:ext cx="43891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Sang slide 2 để đọc khung lý thuyết của buổi đầu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" y="0"/>
            <a:ext cx="64008" cy="6858000"/>
          </a:xfrm>
          <a:prstGeom prst="rect">
            <a:avLst/>
          </a:prstGeom>
          <a:solidFill>
            <a:srgbClr val="2E64D1"/>
          </a:solidFill>
          <a:ln w="12700">
            <a:solidFill>
              <a:srgbClr val="2E64D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9144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64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01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097280" y="91440"/>
            <a:ext cx="5943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Lý thuyết ngắn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02920" y="685800"/>
            <a:ext cx="70408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Nội dung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530352" y="1828800"/>
            <a:ext cx="6217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67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Đích của Day 01 là hiểu dữ liệu trước khi chạy model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1828800"/>
            <a:ext cx="3794760" cy="3566160"/>
          </a:xfrm>
          <a:prstGeom prst="roundRect">
            <a:avLst>
              <a:gd name="adj" fmla="val 2564"/>
            </a:avLst>
          </a:prstGeom>
          <a:solidFill>
            <a:srgbClr val="F5F7FB"/>
          </a:solidFill>
          <a:ln w="12700">
            <a:solidFill>
              <a:srgbClr val="D6DCE8"/>
            </a:solidFill>
            <a:prstDash val="solid"/>
          </a:ln>
          <a:effectLst>
            <a:outerShdw sx="100000" sy="100000" kx="0" ky="0" algn="bl" rotWithShape="0" blurRad="12700" dist="127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713232" y="1975104"/>
            <a:ext cx="34655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Nhóm biến cần nhớ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77240" y="2331720"/>
            <a:ext cx="3383280" cy="2651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marL="177800" indent="-177800"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egfr_mutation là biến đích</a:t>
            </a:r>
            <a:endParaRPr lang="en-US" sz="1300" dirty="0"/>
          </a:p>
          <a:p>
            <a:pPr marL="177800" indent="-177800"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 và tumor_size_mm là biến liên tục</a:t>
            </a:r>
            <a:endParaRPr lang="en-US" sz="1300" dirty="0"/>
          </a:p>
          <a:p>
            <a:pPr marL="177800" indent="-177800"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sex, smoking_status, histology, stage là biến phân loại</a:t>
            </a:r>
            <a:endParaRPr lang="en-US" sz="1300" dirty="0"/>
          </a:p>
          <a:p>
            <a:pPr marL="177800" indent="-177800"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intra, ring1, ring3, ring5 là bốn nhóm radiomics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26280" y="1828800"/>
            <a:ext cx="3154680" cy="3566160"/>
          </a:xfrm>
          <a:prstGeom prst="roundRect">
            <a:avLst>
              <a:gd name="adj" fmla="val 2899"/>
            </a:avLst>
          </a:prstGeom>
          <a:solidFill>
            <a:srgbClr val="F5F7FB"/>
          </a:solidFill>
          <a:ln w="12700">
            <a:solidFill>
              <a:srgbClr val="D6DCE8"/>
            </a:solidFill>
            <a:prstDash val="solid"/>
          </a:ln>
          <a:effectLst>
            <a:outerShdw sx="100000" sy="100000" kx="0" ky="0" algn="bl" rotWithShape="0" blurRad="12700" dist="127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690872" y="1975104"/>
            <a:ext cx="28254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hỏi phải trả lời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754880" y="2331720"/>
            <a:ext cx="2743200" cy="2651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marL="177800" indent="-177800"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Cohort có bao nhiêu ca</a:t>
            </a:r>
            <a:endParaRPr lang="en-US" sz="1300" dirty="0"/>
          </a:p>
          <a:p>
            <a:pPr marL="177800" indent="-177800"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Tỉ lệ EGFR dương ra sao</a:t>
            </a:r>
            <a:endParaRPr lang="en-US" sz="1300" dirty="0"/>
          </a:p>
          <a:p>
            <a:pPr marL="177800" indent="-177800"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Biến nào nên đưa vào Table 1</a:t>
            </a:r>
            <a:endParaRPr lang="en-US" sz="1300" dirty="0"/>
          </a:p>
          <a:p>
            <a:pPr marL="177800" indent="-177800"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Hình nào đủ để đọc phân bố dữ liệu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863840" y="1828800"/>
            <a:ext cx="3749040" cy="3611880"/>
          </a:xfrm>
          <a:prstGeom prst="roundRect">
            <a:avLst>
              <a:gd name="adj" fmla="val 2025"/>
            </a:avLst>
          </a:prstGeom>
          <a:solidFill>
            <a:srgbClr val="FFFFFF"/>
          </a:solidFill>
          <a:ln w="12700">
            <a:solidFill>
              <a:srgbClr val="D6DCE8"/>
            </a:solidFill>
            <a:prstDash val="solid"/>
          </a:ln>
          <a:effectLst>
            <a:outerShdw sx="100000" sy="100000" kx="0" ky="0" algn="bl" rotWithShape="0" blurRad="12700" dist="12700" dir="27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8001000" y="1938528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hình của buổi đầu</a:t>
            </a:r>
            <a:endParaRPr lang="en-US" sz="1200" dirty="0"/>
          </a:p>
        </p:txBody>
      </p:sp>
      <p:pic>
        <p:nvPicPr>
          <p:cNvPr id="16" name="Image 0" descr="/mnt/data/final_repo/book/_static/figures/day01_plot_monta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1000" y="3331464"/>
            <a:ext cx="3474720" cy="926592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365760" y="6565392"/>
            <a:ext cx="11384280" cy="164592"/>
          </a:xfrm>
          <a:prstGeom prst="rect">
            <a:avLst/>
          </a:prstGeom>
          <a:solidFill>
            <a:srgbClr val="2E64D1"/>
          </a:solidFill>
          <a:ln w="12700">
            <a:solidFill>
              <a:srgbClr val="2E64D1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502920" y="6400800"/>
            <a:ext cx="43891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3 bắt đầu đi thẳng vào code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" y="0"/>
            <a:ext cx="64008" cy="6858000"/>
          </a:xfrm>
          <a:prstGeom prst="rect">
            <a:avLst/>
          </a:prstGeom>
          <a:solidFill>
            <a:srgbClr val="2E64D1"/>
          </a:solidFill>
          <a:ln w="12700">
            <a:solidFill>
              <a:srgbClr val="2E64D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9144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64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01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097280" y="91440"/>
            <a:ext cx="5943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 đọc dữ liệu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02920" y="685800"/>
            <a:ext cx="70408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Bước 1 — Đọc cohort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530352" y="1828800"/>
            <a:ext cx="6217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67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Không cần học nhiều lệnh. Chỉ cần hiểu từng dòng đang làm gì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40080" y="1783080"/>
            <a:ext cx="5623560" cy="4389120"/>
          </a:xfrm>
          <a:prstGeom prst="roundRect">
            <a:avLst>
              <a:gd name="adj" fmla="val 1667"/>
            </a:avLst>
          </a:prstGeom>
          <a:solidFill>
            <a:srgbClr val="0B1736"/>
          </a:solidFill>
          <a:ln w="12700">
            <a:solidFill>
              <a:srgbClr val="0B173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1892808"/>
            <a:ext cx="5257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4E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 dùng trong notebook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04672" y="2167128"/>
            <a:ext cx="5294376" cy="38862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df 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load_csv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'data/nsclc_egfr_radiomics_simplified.csv'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dictionary 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load_csv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'data/data_dictionary_nsclc_egfr_radiomics_simplified.csv'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 </a:t>
            </a:r>
            <a:pPr indent="0" marL="0">
              <a:buNone/>
            </a:pP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</a:t>
            </a:r>
            <a:pPr indent="0" marL="0">
              <a:buNone/>
            </a:pPr>
            <a:r>
              <a:rPr lang="en-US" sz="1400" dirty="0">
                <a:solidFill>
                  <a:srgbClr val="66D9E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df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shape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display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df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head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display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dictionary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head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446520" y="1783080"/>
            <a:ext cx="5074920" cy="1920240"/>
          </a:xfrm>
          <a:prstGeom prst="roundRect">
            <a:avLst>
              <a:gd name="adj" fmla="val 4762"/>
            </a:avLst>
          </a:prstGeom>
          <a:solidFill>
            <a:srgbClr val="F5F7FB"/>
          </a:solidFill>
          <a:ln w="12700">
            <a:solidFill>
              <a:srgbClr val="D6DCE8"/>
            </a:solidFill>
            <a:prstDash val="solid"/>
          </a:ln>
          <a:effectLst>
            <a:outerShdw sx="100000" sy="100000" kx="0" ky="0" algn="bl" rotWithShape="0" blurRad="12700" dist="127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611112" y="1929384"/>
            <a:ext cx="47457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Khi chạy xong sẽ thấy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675120" y="2240280"/>
            <a:ext cx="4572000" cy="10972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marL="177800" indent="-177800"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Bảng chính có 200 dòng và 32 cột</a:t>
            </a:r>
            <a:endParaRPr lang="en-US" sz="1250" dirty="0"/>
          </a:p>
          <a:p>
            <a:pPr marL="177800" indent="-177800"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dictionary giúp đọc tên cột nhanh hơn</a:t>
            </a:r>
            <a:endParaRPr lang="en-US" sz="1250" dirty="0"/>
          </a:p>
          <a:p>
            <a:pPr marL="177800" indent="-177800"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Học sinh cần biết đâu là biến đích và đâu là nhóm radiomics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446520" y="3886200"/>
            <a:ext cx="5074920" cy="1874520"/>
          </a:xfrm>
          <a:prstGeom prst="roundRect">
            <a:avLst>
              <a:gd name="adj" fmla="val 4878"/>
            </a:avLst>
          </a:prstGeom>
          <a:solidFill>
            <a:srgbClr val="F5F7FB"/>
          </a:solidFill>
          <a:ln w="12700">
            <a:solidFill>
              <a:srgbClr val="D6DCE8"/>
            </a:solidFill>
            <a:prstDash val="solid"/>
          </a:ln>
          <a:effectLst>
            <a:outerShdw sx="100000" sy="100000" kx="0" ky="0" algn="bl" rotWithShape="0" blurRad="12700" dist="12700" dir="2700000">
              <a:srgbClr val="000000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611112" y="4032504"/>
            <a:ext cx="47457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Đọc kết quả ra sao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675120" y="4343400"/>
            <a:ext cx="4572000" cy="9601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marL="177800" indent="-177800"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Không vội chạy model khi còn chưa hiểu cohort</a:t>
            </a:r>
            <a:endParaRPr lang="en-US" sz="1250" dirty="0"/>
          </a:p>
          <a:p>
            <a:pPr marL="177800" indent="-177800"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cột phải được xếp vào đúng nhóm</a:t>
            </a:r>
            <a:endParaRPr lang="en-US" sz="1250" dirty="0"/>
          </a:p>
          <a:p>
            <a:pPr marL="177800" indent="-177800"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01 là nền cho bốn buổi sau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365760" y="6565392"/>
            <a:ext cx="11384280" cy="164592"/>
          </a:xfrm>
          <a:prstGeom prst="rect">
            <a:avLst/>
          </a:prstGeom>
          <a:solidFill>
            <a:srgbClr val="2E64D1"/>
          </a:solidFill>
          <a:ln w="12700">
            <a:solidFill>
              <a:srgbClr val="2E64D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02920" y="6400800"/>
            <a:ext cx="43891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4 dùng code để tạo Table 1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" y="0"/>
            <a:ext cx="64008" cy="6858000"/>
          </a:xfrm>
          <a:prstGeom prst="rect">
            <a:avLst/>
          </a:prstGeom>
          <a:solidFill>
            <a:srgbClr val="2E64D1"/>
          </a:solidFill>
          <a:ln w="12700">
            <a:solidFill>
              <a:srgbClr val="2E64D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9144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64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01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097280" y="91440"/>
            <a:ext cx="5943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 tạo Table 1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02920" y="685800"/>
            <a:ext cx="70408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Bước 2 — Tạo Table 1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530352" y="1828800"/>
            <a:ext cx="6217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67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Chọn ít biến nhưng đủ để đọc xu hướng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40080" y="1783080"/>
            <a:ext cx="5577840" cy="4526280"/>
          </a:xfrm>
          <a:prstGeom prst="roundRect">
            <a:avLst>
              <a:gd name="adj" fmla="val 1616"/>
            </a:avLst>
          </a:prstGeom>
          <a:solidFill>
            <a:srgbClr val="0B1736"/>
          </a:solidFill>
          <a:ln w="12700">
            <a:solidFill>
              <a:srgbClr val="0B173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1892808"/>
            <a:ext cx="5212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4E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 chính của phần Table 1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04672" y="2167128"/>
            <a:ext cx="5248656" cy="40233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1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table1 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2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df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groupby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'egfr_mutation'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3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agg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4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age_mean 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'age'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'mean'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5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age_sd 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'age'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'std'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6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tumor_size_median 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'tumor_size_mm'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'median'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7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female_pct 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'sex'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400" dirty="0">
                <a:solidFill>
                  <a:srgbClr val="66D9E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lambda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s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 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==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'F'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mean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*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100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8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never_smoker_pct 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'smoking_status'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400" dirty="0">
                <a:solidFill>
                  <a:srgbClr val="66D9E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lambda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s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 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==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'Never'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mean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*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100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9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round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 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display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table1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400800" y="1783080"/>
            <a:ext cx="5120640" cy="4526280"/>
          </a:xfrm>
          <a:prstGeom prst="roundRect">
            <a:avLst>
              <a:gd name="adj" fmla="val 2020"/>
            </a:avLst>
          </a:prstGeom>
          <a:solidFill>
            <a:srgbClr val="F5F7FB"/>
          </a:solidFill>
          <a:ln w="12700">
            <a:solidFill>
              <a:srgbClr val="D6DCE8"/>
            </a:solidFill>
            <a:prstDash val="solid"/>
          </a:ln>
          <a:effectLst>
            <a:outerShdw sx="100000" sy="100000" kx="0" ky="0" algn="bl" rotWithShape="0" blurRad="12700" dist="127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565392" y="1929384"/>
            <a:ext cx="4791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Điểm học sinh phải hiểu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629400" y="2240280"/>
            <a:ext cx="4663440" cy="3657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marL="177800" indent="-177800">
              <a:buSzPct val="100000"/>
              <a:buChar char="•"/>
            </a:pPr>
            <a:r>
              <a:rPr lang="en-US" sz="123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Table 1 không phải bảng liệt kê cho đủ số lượng cột</a:t>
            </a:r>
            <a:endParaRPr lang="en-US" sz="1230" dirty="0"/>
          </a:p>
          <a:p>
            <a:pPr marL="177800" indent="-177800">
              <a:buSzPct val="100000"/>
              <a:buChar char="•"/>
            </a:pPr>
            <a:r>
              <a:rPr lang="en-US" sz="123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Buổi này chỉ giữ những biến có ích cho phần mô tả cohort</a:t>
            </a:r>
            <a:endParaRPr lang="en-US" sz="1230" dirty="0"/>
          </a:p>
          <a:p>
            <a:pPr marL="177800" indent="-177800">
              <a:buSzPct val="100000"/>
              <a:buChar char="•"/>
            </a:pPr>
            <a:r>
              <a:rPr lang="en-US" sz="123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Khi chia theo EGFR, học sinh phải nhìn được nhóm nào lớn hơn hay nhỏ hơn</a:t>
            </a:r>
            <a:endParaRPr lang="en-US" sz="1230" dirty="0"/>
          </a:p>
          <a:p>
            <a:pPr marL="177800" indent="-177800">
              <a:buSzPct val="100000"/>
              <a:buChar char="•"/>
            </a:pPr>
            <a:r>
              <a:rPr lang="en-US" sz="123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Không cần suy diễn sâu ở Day 01. Chỉ cần đọc đúng dữ liệu</a:t>
            </a:r>
            <a:endParaRPr lang="en-US" sz="1230" dirty="0"/>
          </a:p>
        </p:txBody>
      </p:sp>
      <p:sp>
        <p:nvSpPr>
          <p:cNvPr id="14" name="Shape 12"/>
          <p:cNvSpPr/>
          <p:nvPr/>
        </p:nvSpPr>
        <p:spPr>
          <a:xfrm>
            <a:off x="365760" y="6565392"/>
            <a:ext cx="11384280" cy="164592"/>
          </a:xfrm>
          <a:prstGeom prst="rect">
            <a:avLst/>
          </a:prstGeom>
          <a:solidFill>
            <a:srgbClr val="2E64D1"/>
          </a:solidFill>
          <a:ln w="12700">
            <a:solidFill>
              <a:srgbClr val="2E64D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02920" y="6400800"/>
            <a:ext cx="43891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5 cho ra ba hình minh họa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" y="0"/>
            <a:ext cx="64008" cy="6858000"/>
          </a:xfrm>
          <a:prstGeom prst="rect">
            <a:avLst/>
          </a:prstGeom>
          <a:solidFill>
            <a:srgbClr val="2E64D1"/>
          </a:solidFill>
          <a:ln w="12700">
            <a:solidFill>
              <a:srgbClr val="2E64D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9144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64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01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097280" y="91440"/>
            <a:ext cx="5943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Kết quả demo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02920" y="685800"/>
            <a:ext cx="70408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Bước 3 — Đọc ba hình cơ bản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530352" y="1828800"/>
            <a:ext cx="6217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67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hình trả lời một câu hỏi khác nhau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94360" y="1828800"/>
            <a:ext cx="7452360" cy="4480560"/>
          </a:xfrm>
          <a:prstGeom prst="roundRect">
            <a:avLst>
              <a:gd name="adj" fmla="val 1633"/>
            </a:avLst>
          </a:prstGeom>
          <a:solidFill>
            <a:srgbClr val="FFFFFF"/>
          </a:solidFill>
          <a:ln w="12700">
            <a:solidFill>
              <a:srgbClr val="D6DCE8"/>
            </a:solidFill>
            <a:prstDash val="solid"/>
          </a:ln>
          <a:effectLst>
            <a:outerShdw sx="100000" sy="100000" kx="0" ky="0" algn="bl" rotWithShape="0" blurRad="12700" dist="12700" dir="27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731520" y="1938528"/>
            <a:ext cx="7178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Kết quả demo</a:t>
            </a:r>
            <a:endParaRPr lang="en-US" sz="1200" dirty="0"/>
          </a:p>
        </p:txBody>
      </p:sp>
      <p:pic>
        <p:nvPicPr>
          <p:cNvPr id="10" name="Image 0" descr="/mnt/data/final_repo/book/_static/figures/day01_plot_monta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272028"/>
            <a:ext cx="7178040" cy="1914144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8229600" y="1828800"/>
            <a:ext cx="3383280" cy="4480560"/>
          </a:xfrm>
          <a:prstGeom prst="roundRect">
            <a:avLst>
              <a:gd name="adj" fmla="val 2703"/>
            </a:avLst>
          </a:prstGeom>
          <a:solidFill>
            <a:srgbClr val="F5F7FB"/>
          </a:solidFill>
          <a:ln w="12700">
            <a:solidFill>
              <a:srgbClr val="D6DCE8"/>
            </a:solidFill>
            <a:prstDash val="solid"/>
          </a:ln>
          <a:effectLst>
            <a:outerShdw sx="100000" sy="100000" kx="0" ky="0" algn="bl" rotWithShape="0" blurRad="12700" dist="12700" dir="2700000">
              <a:srgbClr val="000000">
                <a:alpha val="12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8394192" y="1975104"/>
            <a:ext cx="30540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Cách đọc hình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8430768" y="2331720"/>
            <a:ext cx="3017520" cy="3657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marL="177800" indent="-177800">
              <a:buSzPct val="100000"/>
              <a:buChar char="•"/>
            </a:pPr>
            <a:r>
              <a:rPr lang="en-US" sz="121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Histogram cho biết cohort tập trung ở nhóm tuổi nào</a:t>
            </a:r>
            <a:endParaRPr lang="en-US" sz="1210" dirty="0"/>
          </a:p>
          <a:p>
            <a:pPr marL="177800" indent="-177800">
              <a:buSzPct val="100000"/>
              <a:buChar char="•"/>
            </a:pPr>
            <a:r>
              <a:rPr lang="en-US" sz="121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Bar chart cho biết phân bố giới giữa hai nhóm EGFR</a:t>
            </a:r>
            <a:endParaRPr lang="en-US" sz="1210" dirty="0"/>
          </a:p>
          <a:p>
            <a:pPr marL="177800" indent="-177800">
              <a:buSzPct val="100000"/>
              <a:buChar char="•"/>
            </a:pPr>
            <a:r>
              <a:rPr lang="en-US" sz="121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Boxplot cho biết kích thước u có lệch nhiều hay không</a:t>
            </a:r>
            <a:endParaRPr lang="en-US" sz="1210" dirty="0"/>
          </a:p>
          <a:p>
            <a:pPr marL="177800" indent="-177800">
              <a:buSzPct val="100000"/>
              <a:buChar char="•"/>
            </a:pPr>
            <a:r>
              <a:rPr lang="en-US" sz="121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hình này đủ để viết hai đến ba câu mô tả ngắn</a:t>
            </a:r>
            <a:endParaRPr lang="en-US" sz="1210" dirty="0"/>
          </a:p>
        </p:txBody>
      </p:sp>
      <p:sp>
        <p:nvSpPr>
          <p:cNvPr id="14" name="Shape 11"/>
          <p:cNvSpPr/>
          <p:nvPr/>
        </p:nvSpPr>
        <p:spPr>
          <a:xfrm>
            <a:off x="365760" y="6565392"/>
            <a:ext cx="11384280" cy="164592"/>
          </a:xfrm>
          <a:prstGeom prst="rect">
            <a:avLst/>
          </a:prstGeom>
          <a:solidFill>
            <a:srgbClr val="2E64D1"/>
          </a:solidFill>
          <a:ln w="12700">
            <a:solidFill>
              <a:srgbClr val="2E64D1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02920" y="6400800"/>
            <a:ext cx="43891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6 chốt sản phẩm của buổi học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" y="0"/>
            <a:ext cx="64008" cy="6858000"/>
          </a:xfrm>
          <a:prstGeom prst="rect">
            <a:avLst/>
          </a:prstGeom>
          <a:solidFill>
            <a:srgbClr val="2E64D1"/>
          </a:solidFill>
          <a:ln w="12700">
            <a:solidFill>
              <a:srgbClr val="2E64D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9144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64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01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097280" y="91440"/>
            <a:ext cx="5943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Chốt buổi học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02920" y="685800"/>
            <a:ext cx="70408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Sản phẩm sau bài học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530352" y="1828800"/>
            <a:ext cx="6217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67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Mục tiêu là có thể viết được phần đầu của báo cáo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85800" y="1965960"/>
            <a:ext cx="4937760" cy="3566160"/>
          </a:xfrm>
          <a:prstGeom prst="roundRect">
            <a:avLst>
              <a:gd name="adj" fmla="val 2564"/>
            </a:avLst>
          </a:prstGeom>
          <a:solidFill>
            <a:srgbClr val="F5F7FB"/>
          </a:solidFill>
          <a:ln w="12700">
            <a:solidFill>
              <a:srgbClr val="D6DCE8"/>
            </a:solidFill>
            <a:prstDash val="solid"/>
          </a:ln>
          <a:effectLst>
            <a:outerShdw sx="100000" sy="100000" kx="0" ky="0" algn="bl" rotWithShape="0" blurRad="12700" dist="127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850392" y="2112264"/>
            <a:ext cx="46085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Phải có sau Day 01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914400" y="2468880"/>
            <a:ext cx="4480560" cy="2743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marL="177800" indent="-177800"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Một Table 1 gọn</a:t>
            </a:r>
            <a:endParaRPr lang="en-US" sz="1300" dirty="0"/>
          </a:p>
          <a:p>
            <a:pPr marL="177800" indent="-177800"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hình mô tả dữ liệu</a:t>
            </a:r>
            <a:endParaRPr lang="en-US" sz="1300" dirty="0"/>
          </a:p>
          <a:p>
            <a:pPr marL="177800" indent="-177800"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đến ba câu nhận xét ngắn</a:t>
            </a:r>
            <a:endParaRPr lang="en-US" sz="1300" dirty="0"/>
          </a:p>
          <a:p>
            <a:pPr marL="177800" indent="-177800"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Một thư mục output lưu bảng và hình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897880" y="1965960"/>
            <a:ext cx="5394960" cy="3566160"/>
          </a:xfrm>
          <a:prstGeom prst="roundRect">
            <a:avLst>
              <a:gd name="adj" fmla="val 2564"/>
            </a:avLst>
          </a:prstGeom>
          <a:solidFill>
            <a:srgbClr val="F5F7FB"/>
          </a:solidFill>
          <a:ln w="12700">
            <a:solidFill>
              <a:srgbClr val="D6DCE8"/>
            </a:solidFill>
            <a:prstDash val="solid"/>
          </a:ln>
          <a:effectLst>
            <a:outerShdw sx="100000" sy="100000" kx="0" ky="0" algn="bl" rotWithShape="0" blurRad="12700" dist="127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062472" y="2112264"/>
            <a:ext cx="50657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Nối sang Day 02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126480" y="2468880"/>
            <a:ext cx="4937760" cy="2743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marL="177800" indent="-177800"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02 dùng chính cohort này để so sánh intra, ring1, ring3, ring5</a:t>
            </a:r>
            <a:endParaRPr lang="en-US" sz="1300" dirty="0"/>
          </a:p>
          <a:p>
            <a:pPr marL="177800" indent="-177800"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Buổi sau sẽ có ROC, AUC và confusion matrix</a:t>
            </a:r>
            <a:endParaRPr lang="en-US" sz="1300" dirty="0"/>
          </a:p>
          <a:p>
            <a:pPr marL="177800" indent="-177800"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Chỉ sau khi xong Day 02 mới biết ROI nào đáng mang sang Day 03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365760" y="6565392"/>
            <a:ext cx="11384280" cy="164592"/>
          </a:xfrm>
          <a:prstGeom prst="rect">
            <a:avLst/>
          </a:prstGeom>
          <a:solidFill>
            <a:srgbClr val="2E64D1"/>
          </a:solidFill>
          <a:ln w="12700">
            <a:solidFill>
              <a:srgbClr val="2E64D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02920" y="6400800"/>
            <a:ext cx="43891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 Day 02 — Hiệu năng mô hình và so sánh ROI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OpenAI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EGFR Radiomics Mini Bootcamp</dc:title>
  <dc:subject>EGFR Radiomics Mini Bootcamp</dc:subject>
  <dc:creator>OpenAI</dc:creator>
  <cp:lastModifiedBy>OpenAI</cp:lastModifiedBy>
  <cp:revision>1</cp:revision>
  <dcterms:created xsi:type="dcterms:W3CDTF">2026-03-07T13:11:38Z</dcterms:created>
  <dcterms:modified xsi:type="dcterms:W3CDTF">2026-03-07T13:11:38Z</dcterms:modified>
</cp:coreProperties>
</file>